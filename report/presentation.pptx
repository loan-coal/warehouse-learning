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Présenter l'équipe et le sujet : une flotte de chariots élévateurs dans un entrepôt en grille. Question centrale : quelles méthodes d'apprentissage par renforcement passent à l'échelle quand la flotte grandit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robot reçoit une mission : prélever une caisse sur une étagère pour l'amener à un quai, ou l'inverse. Les allées font une case de large : deux robots face à face se bloquent. Architecture : la file de tâches affecte les missions (comme un WMS), chaque robot choisit ses déplacements.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actions : prendre, déposer, tourner à droite ou à gauche, avancer, reculer. Prendre exige de faire face à la cible. Récompense : +10 par livraison, -0,05 par pas, -1 si bloqué, -0,1 si action impossible ; moitié propre, moitié moyenne de la flotte. Tous les facteurs sont désactivés par défaut : on les active un par 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première « courbe d'apprentissage » ne mesurait que la décroissance d'un professeur glouton : le réseau n'avait rien appris en 3000 épisodes. Depuis : évaluation sur cartes jamais vues, disjointes par construction, et 100 épisodes par chiffre.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glouton est la barre à battre. La Q-table centralisée et les apprenants indépendants sont les méthodes tabulaires. PPO est notre méthode principale. Le planificateur et la recherche ne s'entraînent pas : ils bornent ce qu'apporte l'information.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seul contrôleur choisit l'action de tous les robots à la fois. État : position, orientation et mission de chaque robot ; 34 cases × 4 orientations × 17 situations de mission par robot. Mise à jour Q-learning sur la somme des récompenses, ε décroissant de 1 à 0,05, plafond de 600 Mo.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2 robots, la table a vu tous les états d'évaluation mais ne livre qu'une caisse par épisode après 57 millions de pas ; elle progressait encore. À 3 et 4 robots, le plafond est atteint presque immédiatement, 98 à 99,6 % des mises à jour sont rejetées, et 99,5 à 100 % des états d'évaluation sont inconnus.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à compléter par Loïc et Juliette.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On-policy car les robots apprennent ensemble : une mémoire de rejeu contiendrait la dynamique d'anciens coéquipiers, et mélangerait les cartes. Un seul réseau lit toute la flotte : un encodeur par paires compare le robot i à chaque robot j, agrégé par max et moyenne. Le masquage a fait passer les actions invalides de 1128 à 0 par épisode ; les distances BFS remplacent 882 dimensions de carte par 5 ; la forme textbook du shaping faisait flâner l'agent ; l'échantillonnage brise les face-à-face.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Carte 7×6, 100 épisodes d'évaluation à graines réservées. PPO : +50 % sur le glouton à 2 robots, +74 % à 4. La Q-table livre 1,2 caisse à 2 robots et rien au-delà. Le glouton plafonne vers 10 livraisons car il passe son temps à contourner.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même réseau traite n'importe quel nombre de robots, car ses entrées ne dépendent ni de la carte ni de la taille de la flotte. Il dépasse le glouton (pointillés) dès les premières centaines de milliers de pas.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Labyrinthe 21×21 nouveau à chaque épisode, 6 robots hétérogènes, 3 humains, priorités, 400 pas ; 100 labyrinthes jamais vus. Le glouton oscille : un tiers de ses déplacements reviennent en arrière. Les demi-tours de PPO surviennent à 98,5 % près d'un autre agent : c'est sa façon d'attendre.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planificateur réserve les cases dans l'espace-temps : les robots ne se bloquent jamais entre eux, ses trajets sont les plus directs. Pourtant il livre 13,1 caisses contre 18,3 pour PPO, avec une forte variance : sur 11 à 14 labyrinthes sur 100 il livre moins de 5 caisses. Hypothèse : réserver un couloir d'une case condamne les autres à attendre. Savoir où sont les humains, ou même où ils iront, ne change rien de significatif (12,4 à 13,5, erreur-type 0,7) : l'écart avec PPO vient de ce qu'il a appris, pas de l'information. Search : chiffres à compléter (Lohann).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messages. Puis ouvrir les questions ; démo possible : python -m isaac.demo --checkpoint checkpoints/ppo_4.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2731"/>
        </a:solidFill>
        <a:effectLst/>
      </p:bgPr>
    </p:bg>
    <p:spTree>
      <p:nvGrpSpPr>
        <p:cNvPr id="1" name=""/>
        <p:cNvGrpSpPr/>
        <p:nvPr/>
      </p:nvGrpSpPr>
      <p:grpSpPr/>
      <p:sp>
        <p:nvSpPr>
          <p:cNvPr id="2" name="Rectangle 1"/>
          <p:cNvSpPr/>
          <p:nvPr/>
        </p:nvSpPr>
        <p:spPr>
          <a:xfrm>
            <a:off x="7589520" y="1417320"/>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973568" y="1417320"/>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357616" y="1417320"/>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741664" y="1417320"/>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25712" y="1417320"/>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509760" y="1417320"/>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93808" y="1417320"/>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277856" y="1417320"/>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61904" y="1417320"/>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045952" y="1417320"/>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30000" y="1417320"/>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0" y="1801368"/>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73568" y="1801368"/>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57616" y="1801368"/>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41664" y="1801368"/>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25712" y="1801368"/>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509760" y="1801368"/>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893808" y="1801368"/>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277856" y="1801368"/>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661904" y="1801368"/>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045952" y="1801368"/>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430000" y="1801368"/>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89520" y="2185416"/>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973568" y="2185416"/>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57616" y="2185416"/>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41664" y="2185416"/>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25712" y="2185416"/>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09760" y="2185416"/>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893808" y="2185416"/>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77856" y="2185416"/>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661904" y="2185416"/>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045952" y="2185416"/>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430000" y="2185416"/>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589520" y="2569464"/>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73568" y="2569464"/>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57616" y="2569464"/>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741664" y="2569464"/>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125712" y="2569464"/>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09760" y="2569464"/>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93808" y="2569464"/>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77856" y="2569464"/>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661904" y="2569464"/>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1045952" y="2569464"/>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1430000" y="2569464"/>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589520" y="2953512"/>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973568" y="2953512"/>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357616" y="2953512"/>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741664" y="2953512"/>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125712" y="2953512"/>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509760" y="2953512"/>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893808" y="2953512"/>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277856" y="2953512"/>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661904" y="2953512"/>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1045952" y="2953512"/>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1430000" y="2953512"/>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589520" y="3337560"/>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973568" y="3337560"/>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357616" y="3337560"/>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741664" y="3337560"/>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125712" y="3337560"/>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09760" y="3337560"/>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893808" y="3337560"/>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277856" y="3337560"/>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661904" y="3337560"/>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1045952" y="3337560"/>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1430000" y="3337560"/>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589520" y="3721608"/>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973568" y="3721608"/>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357616" y="3721608"/>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741664" y="3721608"/>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125712" y="3721608"/>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509760" y="3721608"/>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893808" y="3721608"/>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0277856" y="3721608"/>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661904" y="3721608"/>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1045952" y="3721608"/>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1430000" y="3721608"/>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7589520" y="4105656"/>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973568" y="4105656"/>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357616" y="4105656"/>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8741664" y="4105656"/>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125712" y="4105656"/>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509760" y="4105656"/>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893808" y="4105656"/>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0277856" y="4105656"/>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0661904" y="4105656"/>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1045952" y="4105656"/>
            <a:ext cx="361005" cy="36100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1430000" y="4105656"/>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589520" y="4489704"/>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973568" y="4489704"/>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357616" y="4489704"/>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741664" y="4489704"/>
            <a:ext cx="361005" cy="361005"/>
          </a:xfrm>
          <a:prstGeom prst="rect">
            <a:avLst/>
          </a:prstGeom>
          <a:solidFill>
            <a:srgbClr val="D94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125712" y="4489704"/>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9509760" y="4489704"/>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9893808" y="4489704"/>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0277856" y="4489704"/>
            <a:ext cx="361005" cy="361005"/>
          </a:xfrm>
          <a:prstGeom prst="rect">
            <a:avLst/>
          </a:prstGeom>
          <a:solidFill>
            <a:srgbClr val="D94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0661904" y="4489704"/>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045952" y="4489704"/>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430000" y="4489704"/>
            <a:ext cx="361005" cy="36100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7650967" y="1478767"/>
            <a:ext cx="238109" cy="238109"/>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9187159" y="2246863"/>
            <a:ext cx="238109" cy="238109"/>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0723351" y="3014959"/>
            <a:ext cx="238109" cy="238109"/>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1491447" y="4551151"/>
            <a:ext cx="238109" cy="238109"/>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48640" y="1554480"/>
            <a:ext cx="6583680" cy="365760"/>
          </a:xfrm>
          <a:prstGeom prst="rect">
            <a:avLst/>
          </a:prstGeom>
          <a:noFill/>
        </p:spPr>
        <p:txBody>
          <a:bodyPr wrap="square" lIns="0" rIns="0" tIns="0" bIns="0" anchor="t">
            <a:spAutoFit/>
          </a:bodyPr>
          <a:lstStyle/>
          <a:p>
            <a:pPr algn="l">
              <a:spcAft>
                <a:spcPts val="600"/>
              </a:spcAft>
            </a:pPr>
            <a:r>
              <a:rPr sz="1300" b="1" i="0">
                <a:solidFill>
                  <a:srgbClr val="F2A900"/>
                </a:solidFill>
                <a:latin typeface="Calibri"/>
              </a:rPr>
              <a:t>PROJET D'APPRENTISSAGE PAR RENFORCEMENT</a:t>
            </a:r>
          </a:p>
        </p:txBody>
      </p:sp>
      <p:sp>
        <p:nvSpPr>
          <p:cNvPr id="106" name="TextBox 105"/>
          <p:cNvSpPr txBox="1"/>
          <p:nvPr/>
        </p:nvSpPr>
        <p:spPr>
          <a:xfrm>
            <a:off x="548640" y="2011680"/>
            <a:ext cx="6675120" cy="1828800"/>
          </a:xfrm>
          <a:prstGeom prst="rect">
            <a:avLst/>
          </a:prstGeom>
          <a:noFill/>
        </p:spPr>
        <p:txBody>
          <a:bodyPr wrap="square" lIns="0" rIns="0" tIns="0" bIns="0" anchor="t">
            <a:spAutoFit/>
          </a:bodyPr>
          <a:lstStyle/>
          <a:p>
            <a:pPr algn="l">
              <a:spcAft>
                <a:spcPts val="600"/>
              </a:spcAft>
            </a:pPr>
            <a:r>
              <a:rPr sz="4000" b="1" i="0">
                <a:solidFill>
                  <a:srgbClr val="FFFFFF"/>
                </a:solidFill>
                <a:latin typeface="Calibri"/>
              </a:rPr>
              <a:t>Coordonner une flotte de robots d'entrepôt</a:t>
            </a:r>
          </a:p>
        </p:txBody>
      </p:sp>
      <p:sp>
        <p:nvSpPr>
          <p:cNvPr id="107" name="TextBox 106"/>
          <p:cNvSpPr txBox="1"/>
          <p:nvPr/>
        </p:nvSpPr>
        <p:spPr>
          <a:xfrm>
            <a:off x="548640" y="3977639"/>
            <a:ext cx="6583680" cy="822960"/>
          </a:xfrm>
          <a:prstGeom prst="rect">
            <a:avLst/>
          </a:prstGeom>
          <a:noFill/>
        </p:spPr>
        <p:txBody>
          <a:bodyPr wrap="square" lIns="0" rIns="0" tIns="0" bIns="0" anchor="t">
            <a:spAutoFit/>
          </a:bodyPr>
          <a:lstStyle/>
          <a:p>
            <a:pPr algn="l">
              <a:spcAft>
                <a:spcPts val="600"/>
              </a:spcAft>
            </a:pPr>
            <a:r>
              <a:rPr sz="2000" b="0" i="0">
                <a:solidFill>
                  <a:srgbClr val="FFFFFF"/>
                </a:solidFill>
                <a:latin typeface="Calibri"/>
              </a:rPr>
              <a:t>Du Q-learning tabulaire au PPO centralisé</a:t>
            </a:r>
          </a:p>
        </p:txBody>
      </p:sp>
      <p:sp>
        <p:nvSpPr>
          <p:cNvPr id="108" name="TextBox 107"/>
          <p:cNvSpPr txBox="1"/>
          <p:nvPr/>
        </p:nvSpPr>
        <p:spPr>
          <a:xfrm>
            <a:off x="548640" y="5257800"/>
            <a:ext cx="6583680" cy="822960"/>
          </a:xfrm>
          <a:prstGeom prst="rect">
            <a:avLst/>
          </a:prstGeom>
          <a:noFill/>
        </p:spPr>
        <p:txBody>
          <a:bodyPr wrap="square" lIns="0" rIns="0" tIns="0" bIns="0" anchor="t">
            <a:spAutoFit/>
          </a:bodyPr>
          <a:lstStyle/>
          <a:p>
            <a:pPr algn="l">
              <a:spcAft>
                <a:spcPts val="600"/>
              </a:spcAft>
            </a:pPr>
            <a:r>
              <a:rPr sz="1400" b="0" i="0">
                <a:solidFill>
                  <a:srgbClr val="C9D1D8"/>
                </a:solidFill>
                <a:latin typeface="Calibri"/>
              </a:rPr>
              <a:t>Antoine de Chabannes · Lohann Colle · Juliette Girardin · Loïc</a:t>
            </a:r>
          </a:p>
          <a:p>
            <a:pPr algn="l">
              <a:spcAft>
                <a:spcPts val="600"/>
              </a:spcAft>
            </a:pPr>
            <a:r>
              <a:rPr sz="1400" b="0" i="0">
                <a:solidFill>
                  <a:srgbClr val="C9D1D8"/>
                </a:solidFill>
                <a:latin typeface="Calibri"/>
              </a:rPr>
              <a:t>Master 2 · Université Côte d'Azur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spcAft>
                <a:spcPts val="600"/>
              </a:spcAft>
            </a:pPr>
            <a:r>
              <a:rPr sz="1200" b="1" i="0">
                <a:solidFill>
                  <a:srgbClr val="5B6670"/>
                </a:solidFill>
                <a:latin typeface="Calibri"/>
              </a:rPr>
              <a:t>LE PROBLÈME</a:t>
            </a:r>
          </a:p>
        </p:txBody>
      </p:sp>
      <p:sp>
        <p:nvSpPr>
          <p:cNvPr id="3" name="Titre"/>
          <p:cNvSpPr txBox="1"/>
          <p:nvPr/>
        </p:nvSpPr>
        <p:spPr>
          <a:xfrm>
            <a:off x="548640" y="640080"/>
            <a:ext cx="11094415" cy="731520"/>
          </a:xfrm>
          <a:prstGeom prst="rect">
            <a:avLst/>
          </a:prstGeom>
          <a:noFill/>
        </p:spPr>
        <p:txBody>
          <a:bodyPr wrap="square" lIns="0" rIns="0" tIns="0" bIns="0" anchor="t">
            <a:spAutoFit/>
          </a:bodyPr>
          <a:lstStyle/>
          <a:p>
            <a:pPr algn="l">
              <a:spcAft>
                <a:spcPts val="600"/>
              </a:spcAft>
            </a:pPr>
            <a:r>
              <a:rPr sz="3000" b="1" i="0">
                <a:solidFill>
                  <a:srgbClr val="1D2731"/>
                </a:solidFill>
                <a:latin typeface="Calibri"/>
              </a:rPr>
              <a:t>Livrer sans se bloquer dans des allées d'une case</a:t>
            </a:r>
          </a:p>
        </p:txBody>
      </p:sp>
      <p:sp>
        <p:nvSpPr>
          <p:cNvPr id="4" name="Rectangle 3"/>
          <p:cNvSpPr/>
          <p:nvPr/>
        </p:nvSpPr>
        <p:spPr>
          <a:xfrm>
            <a:off x="548640" y="1737360"/>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50976" y="1737360"/>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53312" y="1737360"/>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5648" y="1737360"/>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57984" y="1737360"/>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0" y="1737360"/>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62656" y="1737360"/>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4992" y="1737360"/>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767328" y="1737360"/>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9663" y="1737360"/>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37360"/>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39696"/>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50976" y="2139696"/>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353312" y="2139696"/>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755648" y="2139696"/>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57984" y="2139696"/>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60320" y="2139696"/>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62656" y="2139696"/>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64992" y="2139696"/>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767328" y="2139696"/>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69663" y="2139696"/>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0" y="2139696"/>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2542032"/>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0976" y="2542032"/>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353312" y="2542032"/>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755648" y="2542032"/>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157984" y="2542032"/>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60320" y="2542032"/>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962656" y="2542032"/>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64992" y="2542032"/>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767328" y="2542032"/>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69663" y="2542032"/>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0" y="2542032"/>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2944368"/>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50976" y="2944368"/>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353312" y="2944368"/>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755648" y="2944368"/>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157984" y="2944368"/>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0320" y="2944368"/>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962656" y="2944368"/>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364992" y="2944368"/>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767328" y="2944368"/>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169663" y="2944368"/>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72000" y="2944368"/>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48640" y="3346704"/>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50976" y="3346704"/>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353312" y="3346704"/>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755648" y="3346704"/>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157984" y="3346704"/>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560320" y="3346704"/>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962656" y="3346704"/>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364992" y="3346704"/>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767328" y="3346704"/>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169663" y="3346704"/>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0" y="3346704"/>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48640" y="3749039"/>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50976" y="3749039"/>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353312" y="3749039"/>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755648" y="3749039"/>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157984" y="3749039"/>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560320" y="3749039"/>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962656" y="3749039"/>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3364992" y="3749039"/>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767328" y="3749039"/>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169663" y="3749039"/>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572000" y="3749039"/>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48640" y="4151376"/>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50976" y="4151376"/>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353312" y="4151376"/>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755648" y="4151376"/>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157984" y="4151376"/>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560320" y="4151376"/>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2962656" y="4151376"/>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3364992" y="4151376"/>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767328" y="4151376"/>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169663" y="4151376"/>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572000" y="4151376"/>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48640" y="4553712"/>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50976" y="4553712"/>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353312" y="4553712"/>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755648" y="4553712"/>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2157984" y="4553712"/>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2560320" y="4553712"/>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962656" y="4553712"/>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3364992" y="4553712"/>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3767328" y="4553712"/>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4169663" y="4553712"/>
            <a:ext cx="378195" cy="378195"/>
          </a:xfrm>
          <a:prstGeom prst="rect">
            <a:avLst/>
          </a:prstGeom>
          <a:solidFill>
            <a:srgbClr val="8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4572000" y="4553712"/>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548640" y="4956048"/>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50976" y="4956048"/>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353312" y="4956048"/>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755648" y="4956048"/>
            <a:ext cx="378195" cy="378195"/>
          </a:xfrm>
          <a:prstGeom prst="rect">
            <a:avLst/>
          </a:prstGeom>
          <a:solidFill>
            <a:srgbClr val="D94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2157984" y="4956048"/>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2560320" y="4956048"/>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2962656" y="4956048"/>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3364992" y="4956048"/>
            <a:ext cx="378195" cy="378195"/>
          </a:xfrm>
          <a:prstGeom prst="rect">
            <a:avLst/>
          </a:prstGeom>
          <a:solidFill>
            <a:srgbClr val="D94F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3767328" y="4956048"/>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4169663" y="4956048"/>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4572000" y="4956048"/>
            <a:ext cx="378195" cy="378195"/>
          </a:xfrm>
          <a:prstGeom prst="rect">
            <a:avLst/>
          </a:prstGeom>
          <a:solidFill>
            <a:srgbClr val="2B3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417685" y="1801733"/>
            <a:ext cx="249448" cy="249448"/>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2222357" y="2606405"/>
            <a:ext cx="249448" cy="249448"/>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027029" y="3411077"/>
            <a:ext cx="249448" cy="249448"/>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636373" y="4215749"/>
            <a:ext cx="249448" cy="249448"/>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48640" y="5532120"/>
            <a:ext cx="4572000" cy="548640"/>
          </a:xfrm>
          <a:prstGeom prst="rect">
            <a:avLst/>
          </a:prstGeom>
          <a:noFill/>
        </p:spPr>
        <p:txBody>
          <a:bodyPr wrap="square" lIns="0" rIns="0" tIns="0" bIns="0" anchor="t">
            <a:spAutoFit/>
          </a:bodyPr>
          <a:lstStyle/>
          <a:p>
            <a:pPr algn="l">
              <a:spcAft>
                <a:spcPts val="600"/>
              </a:spcAft>
            </a:pPr>
            <a:r>
              <a:rPr sz="1200" b="0" i="0">
                <a:solidFill>
                  <a:srgbClr val="8A6A4A"/>
                </a:solidFill>
                <a:latin typeface="Calibri"/>
              </a:rPr>
              <a:t>■ </a:t>
            </a:r>
            <a:r>
              <a:rPr sz="1200" b="0" i="0">
                <a:solidFill>
                  <a:srgbClr val="5B6670"/>
                </a:solidFill>
                <a:latin typeface="Calibri"/>
              </a:rPr>
              <a:t>étagère   </a:t>
            </a:r>
            <a:r>
              <a:rPr sz="1200" b="0" i="0">
                <a:solidFill>
                  <a:srgbClr val="D94F3D"/>
                </a:solidFill>
                <a:latin typeface="Calibri"/>
              </a:rPr>
              <a:t>■ </a:t>
            </a:r>
            <a:r>
              <a:rPr sz="1200" b="0" i="0">
                <a:solidFill>
                  <a:srgbClr val="5B6670"/>
                </a:solidFill>
                <a:latin typeface="Calibri"/>
              </a:rPr>
              <a:t>quai   </a:t>
            </a:r>
            <a:r>
              <a:rPr sz="1200" b="0" i="0">
                <a:solidFill>
                  <a:srgbClr val="F2A900"/>
                </a:solidFill>
                <a:latin typeface="Calibri"/>
              </a:rPr>
              <a:t>● </a:t>
            </a:r>
            <a:r>
              <a:rPr sz="1200" b="0" i="0">
                <a:solidFill>
                  <a:srgbClr val="5B6670"/>
                </a:solidFill>
                <a:latin typeface="Calibri"/>
              </a:rPr>
              <a:t>robot</a:t>
            </a:r>
          </a:p>
        </p:txBody>
      </p:sp>
      <p:sp>
        <p:nvSpPr>
          <p:cNvPr id="108" name="Oval 107"/>
          <p:cNvSpPr/>
          <p:nvPr/>
        </p:nvSpPr>
        <p:spPr>
          <a:xfrm>
            <a:off x="5806440" y="182880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D2731"/>
                </a:solidFill>
                <a:latin typeface="Calibri"/>
              </a:rPr>
              <a:t>1</a:t>
            </a:r>
          </a:p>
        </p:txBody>
      </p:sp>
      <p:sp>
        <p:nvSpPr>
          <p:cNvPr id="109" name="TextBox 108"/>
          <p:cNvSpPr txBox="1"/>
          <p:nvPr/>
        </p:nvSpPr>
        <p:spPr>
          <a:xfrm>
            <a:off x="6492240" y="1810512"/>
            <a:ext cx="5120640" cy="365760"/>
          </a:xfrm>
          <a:prstGeom prst="rect">
            <a:avLst/>
          </a:prstGeom>
          <a:noFill/>
        </p:spPr>
        <p:txBody>
          <a:bodyPr wrap="square" lIns="0" rIns="0" tIns="0" bIns="0" anchor="t">
            <a:spAutoFit/>
          </a:bodyPr>
          <a:lstStyle/>
          <a:p>
            <a:pPr algn="l">
              <a:spcAft>
                <a:spcPts val="600"/>
              </a:spcAft>
            </a:pPr>
            <a:r>
              <a:rPr sz="2000" b="1" i="0">
                <a:solidFill>
                  <a:srgbClr val="1D2731"/>
                </a:solidFill>
                <a:latin typeface="Calibri"/>
              </a:rPr>
              <a:t>Prélever</a:t>
            </a:r>
          </a:p>
        </p:txBody>
      </p:sp>
      <p:sp>
        <p:nvSpPr>
          <p:cNvPr id="110" name="TextBox 109"/>
          <p:cNvSpPr txBox="1"/>
          <p:nvPr/>
        </p:nvSpPr>
        <p:spPr>
          <a:xfrm>
            <a:off x="6492240" y="2212848"/>
            <a:ext cx="5120640" cy="640080"/>
          </a:xfrm>
          <a:prstGeom prst="rect">
            <a:avLst/>
          </a:prstGeom>
          <a:noFill/>
        </p:spPr>
        <p:txBody>
          <a:bodyPr wrap="square" lIns="0" rIns="0" tIns="0" bIns="0" anchor="t">
            <a:spAutoFit/>
          </a:bodyPr>
          <a:lstStyle/>
          <a:p>
            <a:pPr algn="l">
              <a:spcAft>
                <a:spcPts val="600"/>
              </a:spcAft>
            </a:pPr>
            <a:r>
              <a:rPr sz="1600" b="0" i="0">
                <a:solidFill>
                  <a:srgbClr val="5B6670"/>
                </a:solidFill>
                <a:latin typeface="Calibri"/>
              </a:rPr>
              <a:t>étagère → quai, ou ranger : quai → étagère</a:t>
            </a:r>
          </a:p>
        </p:txBody>
      </p:sp>
      <p:sp>
        <p:nvSpPr>
          <p:cNvPr id="111" name="Oval 110"/>
          <p:cNvSpPr/>
          <p:nvPr/>
        </p:nvSpPr>
        <p:spPr>
          <a:xfrm>
            <a:off x="5806440" y="306324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D2731"/>
                </a:solidFill>
                <a:latin typeface="Calibri"/>
              </a:rPr>
              <a:t>2</a:t>
            </a:r>
          </a:p>
        </p:txBody>
      </p:sp>
      <p:sp>
        <p:nvSpPr>
          <p:cNvPr id="112" name="TextBox 111"/>
          <p:cNvSpPr txBox="1"/>
          <p:nvPr/>
        </p:nvSpPr>
        <p:spPr>
          <a:xfrm>
            <a:off x="6492240" y="3044952"/>
            <a:ext cx="5120640" cy="365760"/>
          </a:xfrm>
          <a:prstGeom prst="rect">
            <a:avLst/>
          </a:prstGeom>
          <a:noFill/>
        </p:spPr>
        <p:txBody>
          <a:bodyPr wrap="square" lIns="0" rIns="0" tIns="0" bIns="0" anchor="t">
            <a:spAutoFit/>
          </a:bodyPr>
          <a:lstStyle/>
          <a:p>
            <a:pPr algn="l">
              <a:spcAft>
                <a:spcPts val="600"/>
              </a:spcAft>
            </a:pPr>
            <a:r>
              <a:rPr sz="2000" b="1" i="0">
                <a:solidFill>
                  <a:srgbClr val="1D2731"/>
                </a:solidFill>
                <a:latin typeface="Calibri"/>
              </a:rPr>
              <a:t>Naviguer</a:t>
            </a:r>
          </a:p>
        </p:txBody>
      </p:sp>
      <p:sp>
        <p:nvSpPr>
          <p:cNvPr id="113" name="TextBox 112"/>
          <p:cNvSpPr txBox="1"/>
          <p:nvPr/>
        </p:nvSpPr>
        <p:spPr>
          <a:xfrm>
            <a:off x="6492240" y="3447288"/>
            <a:ext cx="5120640" cy="640080"/>
          </a:xfrm>
          <a:prstGeom prst="rect">
            <a:avLst/>
          </a:prstGeom>
          <a:noFill/>
        </p:spPr>
        <p:txBody>
          <a:bodyPr wrap="square" lIns="0" rIns="0" tIns="0" bIns="0" anchor="t">
            <a:spAutoFit/>
          </a:bodyPr>
          <a:lstStyle/>
          <a:p>
            <a:pPr algn="l">
              <a:spcAft>
                <a:spcPts val="600"/>
              </a:spcAft>
            </a:pPr>
            <a:r>
              <a:rPr sz="1600" b="0" i="0">
                <a:solidFill>
                  <a:srgbClr val="5B6670"/>
                </a:solidFill>
                <a:latin typeface="Calibri"/>
              </a:rPr>
              <a:t>labyrinthe nouveau à chaque épisode, humains qui errent</a:t>
            </a:r>
          </a:p>
        </p:txBody>
      </p:sp>
      <p:sp>
        <p:nvSpPr>
          <p:cNvPr id="114" name="Oval 113"/>
          <p:cNvSpPr/>
          <p:nvPr/>
        </p:nvSpPr>
        <p:spPr>
          <a:xfrm>
            <a:off x="5806440" y="429768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D2731"/>
                </a:solidFill>
                <a:latin typeface="Calibri"/>
              </a:rPr>
              <a:t>3</a:t>
            </a:r>
          </a:p>
        </p:txBody>
      </p:sp>
      <p:sp>
        <p:nvSpPr>
          <p:cNvPr id="115" name="TextBox 114"/>
          <p:cNvSpPr txBox="1"/>
          <p:nvPr/>
        </p:nvSpPr>
        <p:spPr>
          <a:xfrm>
            <a:off x="6492240" y="4279392"/>
            <a:ext cx="5120640" cy="365760"/>
          </a:xfrm>
          <a:prstGeom prst="rect">
            <a:avLst/>
          </a:prstGeom>
          <a:noFill/>
        </p:spPr>
        <p:txBody>
          <a:bodyPr wrap="square" lIns="0" rIns="0" tIns="0" bIns="0" anchor="t">
            <a:spAutoFit/>
          </a:bodyPr>
          <a:lstStyle/>
          <a:p>
            <a:pPr algn="l">
              <a:spcAft>
                <a:spcPts val="600"/>
              </a:spcAft>
            </a:pPr>
            <a:r>
              <a:rPr sz="2000" b="1" i="0">
                <a:solidFill>
                  <a:srgbClr val="1D2731"/>
                </a:solidFill>
                <a:latin typeface="Calibri"/>
              </a:rPr>
              <a:t>Se coordonner</a:t>
            </a:r>
          </a:p>
        </p:txBody>
      </p:sp>
      <p:sp>
        <p:nvSpPr>
          <p:cNvPr id="116" name="TextBox 115"/>
          <p:cNvSpPr txBox="1"/>
          <p:nvPr/>
        </p:nvSpPr>
        <p:spPr>
          <a:xfrm>
            <a:off x="6492240" y="4681728"/>
            <a:ext cx="5120640" cy="640080"/>
          </a:xfrm>
          <a:prstGeom prst="rect">
            <a:avLst/>
          </a:prstGeom>
          <a:noFill/>
        </p:spPr>
        <p:txBody>
          <a:bodyPr wrap="square" lIns="0" rIns="0" tIns="0" bIns="0" anchor="t">
            <a:spAutoFit/>
          </a:bodyPr>
          <a:lstStyle/>
          <a:p>
            <a:pPr algn="l">
              <a:spcAft>
                <a:spcPts val="600"/>
              </a:spcAft>
            </a:pPr>
            <a:r>
              <a:rPr sz="1600" b="0" i="0">
                <a:solidFill>
                  <a:srgbClr val="5B6670"/>
                </a:solidFill>
                <a:latin typeface="Calibri"/>
              </a:rPr>
              <a:t>allées d'une case : deux robots face à face se bloquent</a:t>
            </a:r>
          </a:p>
        </p:txBody>
      </p:sp>
      <p:sp>
        <p:nvSpPr>
          <p:cNvPr id="117" name="TextBox 116"/>
          <p:cNvSpPr txBox="1"/>
          <p:nvPr/>
        </p:nvSpPr>
        <p:spPr>
          <a:xfrm>
            <a:off x="10728655" y="6446520"/>
            <a:ext cx="914400" cy="274320"/>
          </a:xfrm>
          <a:prstGeom prst="rect">
            <a:avLst/>
          </a:prstGeom>
          <a:noFill/>
        </p:spPr>
        <p:txBody>
          <a:bodyPr wrap="square" lIns="0" rIns="0" tIns="0" bIns="0" anchor="t">
            <a:spAutoFit/>
          </a:bodyPr>
          <a:lstStyle/>
          <a:p>
            <a:pPr algn="r">
              <a:spcAft>
                <a:spcPts val="600"/>
              </a:spcAft>
            </a:pPr>
            <a:r>
              <a:rPr sz="1100" b="0" i="0">
                <a:solidFill>
                  <a:srgbClr val="5B667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spcAft>
                <a:spcPts val="600"/>
              </a:spcAft>
            </a:pPr>
            <a:r>
              <a:rPr sz="1200" b="1" i="0">
                <a:solidFill>
                  <a:srgbClr val="5B6670"/>
                </a:solidFill>
                <a:latin typeface="Calibri"/>
              </a:rPr>
              <a:t>L'ENVIRONNEMENT</a:t>
            </a:r>
          </a:p>
        </p:txBody>
      </p:sp>
      <p:sp>
        <p:nvSpPr>
          <p:cNvPr id="3" name="Titre"/>
          <p:cNvSpPr txBox="1"/>
          <p:nvPr/>
        </p:nvSpPr>
        <p:spPr>
          <a:xfrm>
            <a:off x="548640" y="640080"/>
            <a:ext cx="11094415" cy="731520"/>
          </a:xfrm>
          <a:prstGeom prst="rect">
            <a:avLst/>
          </a:prstGeom>
          <a:noFill/>
        </p:spPr>
        <p:txBody>
          <a:bodyPr wrap="square" lIns="0" rIns="0" tIns="0" bIns="0" anchor="t">
            <a:spAutoFit/>
          </a:bodyPr>
          <a:lstStyle/>
          <a:p>
            <a:pPr algn="l">
              <a:spcAft>
                <a:spcPts val="600"/>
              </a:spcAft>
            </a:pPr>
            <a:r>
              <a:rPr sz="3000" b="1" i="0">
                <a:solidFill>
                  <a:srgbClr val="1D2731"/>
                </a:solidFill>
                <a:latin typeface="Calibri"/>
              </a:rPr>
              <a:t>Un environnement à difficulté réglable</a:t>
            </a:r>
          </a:p>
        </p:txBody>
      </p:sp>
      <p:sp>
        <p:nvSpPr>
          <p:cNvPr id="4" name="Rounded Rectangle 3"/>
          <p:cNvSpPr/>
          <p:nvPr/>
        </p:nvSpPr>
        <p:spPr>
          <a:xfrm>
            <a:off x="548640" y="1691640"/>
            <a:ext cx="3484778" cy="242316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874519"/>
            <a:ext cx="2936138" cy="411480"/>
          </a:xfrm>
          <a:prstGeom prst="rect">
            <a:avLst/>
          </a:prstGeom>
          <a:noFill/>
        </p:spPr>
        <p:txBody>
          <a:bodyPr wrap="square" lIns="0" rIns="0" tIns="0" bIns="0" anchor="t">
            <a:spAutoFit/>
          </a:bodyPr>
          <a:lstStyle/>
          <a:p>
            <a:pPr algn="l">
              <a:spcAft>
                <a:spcPts val="600"/>
              </a:spcAft>
            </a:pPr>
            <a:r>
              <a:rPr sz="2000" b="1" i="0">
                <a:solidFill>
                  <a:srgbClr val="1D2731"/>
                </a:solidFill>
                <a:latin typeface="Calibri"/>
              </a:rPr>
              <a:t>Actions</a:t>
            </a:r>
          </a:p>
        </p:txBody>
      </p:sp>
      <p:sp>
        <p:nvSpPr>
          <p:cNvPr id="6" name="TextBox 5"/>
          <p:cNvSpPr txBox="1"/>
          <p:nvPr/>
        </p:nvSpPr>
        <p:spPr>
          <a:xfrm>
            <a:off x="822959" y="2423160"/>
            <a:ext cx="2936138" cy="1645920"/>
          </a:xfrm>
          <a:prstGeom prst="rect">
            <a:avLst/>
          </a:prstGeom>
          <a:noFill/>
        </p:spPr>
        <p:txBody>
          <a:bodyPr wrap="square" lIns="0" rIns="0" tIns="0" bIns="0" anchor="t">
            <a:spAutoFit/>
          </a:bodyPr>
          <a:lstStyle/>
          <a:p>
            <a:pPr algn="l">
              <a:spcAft>
                <a:spcPts val="800"/>
              </a:spcAft>
            </a:pPr>
            <a:r>
              <a:rPr sz="1500" b="0" i="0">
                <a:solidFill>
                  <a:srgbClr val="1D2731"/>
                </a:solidFill>
                <a:latin typeface="Calibri"/>
              </a:rPr>
              <a:t/>
            </a:r>
            <a:r>
              <a:rPr sz="1500">
                <a:solidFill>
                  <a:srgbClr val="F2A900"/>
                </a:solidFill>
                <a:latin typeface="Calibri"/>
              </a:rPr>
              <a:t>▪  </a:t>
            </a:r>
            <a:r>
              <a:rPr sz="1500" b="0">
                <a:solidFill>
                  <a:srgbClr val="1D2731"/>
                </a:solidFill>
                <a:latin typeface="Calibri"/>
              </a:rPr>
              <a:t>6 actions discrètes</a:t>
            </a:r>
          </a:p>
          <a:p>
            <a:pPr>
              <a:spcAft>
                <a:spcPts val="800"/>
              </a:spcAft>
            </a:pPr>
            <a:r>
              <a:rPr sz="1500">
                <a:solidFill>
                  <a:srgbClr val="F2A900"/>
                </a:solidFill>
                <a:latin typeface="Calibri"/>
              </a:rPr>
              <a:t>▪  </a:t>
            </a:r>
            <a:r>
              <a:rPr sz="1500" b="0">
                <a:solidFill>
                  <a:srgbClr val="1D2731"/>
                </a:solidFill>
                <a:latin typeface="Calibri"/>
              </a:rPr>
              <a:t>prendre / déposer face à la cible</a:t>
            </a:r>
          </a:p>
          <a:p>
            <a:pPr>
              <a:spcAft>
                <a:spcPts val="800"/>
              </a:spcAft>
            </a:pPr>
            <a:r>
              <a:rPr sz="1500">
                <a:solidFill>
                  <a:srgbClr val="F2A900"/>
                </a:solidFill>
                <a:latin typeface="Calibri"/>
              </a:rPr>
              <a:t>▪  </a:t>
            </a:r>
            <a:r>
              <a:rPr sz="1500" b="0">
                <a:solidFill>
                  <a:srgbClr val="1D2731"/>
                </a:solidFill>
                <a:latin typeface="Calibri"/>
              </a:rPr>
              <a:t>pas d'attente : on tourne sur place</a:t>
            </a:r>
          </a:p>
        </p:txBody>
      </p:sp>
      <p:sp>
        <p:nvSpPr>
          <p:cNvPr id="7" name="Rounded Rectangle 6"/>
          <p:cNvSpPr/>
          <p:nvPr/>
        </p:nvSpPr>
        <p:spPr>
          <a:xfrm>
            <a:off x="4353458" y="1691640"/>
            <a:ext cx="3484778" cy="242316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7778" y="1874519"/>
            <a:ext cx="2936138" cy="411480"/>
          </a:xfrm>
          <a:prstGeom prst="rect">
            <a:avLst/>
          </a:prstGeom>
          <a:noFill/>
        </p:spPr>
        <p:txBody>
          <a:bodyPr wrap="square" lIns="0" rIns="0" tIns="0" bIns="0" anchor="t">
            <a:spAutoFit/>
          </a:bodyPr>
          <a:lstStyle/>
          <a:p>
            <a:pPr algn="l">
              <a:spcAft>
                <a:spcPts val="600"/>
              </a:spcAft>
            </a:pPr>
            <a:r>
              <a:rPr sz="2000" b="1" i="0">
                <a:solidFill>
                  <a:srgbClr val="1D2731"/>
                </a:solidFill>
                <a:latin typeface="Calibri"/>
              </a:rPr>
              <a:t>Observation</a:t>
            </a:r>
          </a:p>
        </p:txBody>
      </p:sp>
      <p:sp>
        <p:nvSpPr>
          <p:cNvPr id="9" name="TextBox 8"/>
          <p:cNvSpPr txBox="1"/>
          <p:nvPr/>
        </p:nvSpPr>
        <p:spPr>
          <a:xfrm>
            <a:off x="4627778" y="2423160"/>
            <a:ext cx="2936138" cy="1645920"/>
          </a:xfrm>
          <a:prstGeom prst="rect">
            <a:avLst/>
          </a:prstGeom>
          <a:noFill/>
        </p:spPr>
        <p:txBody>
          <a:bodyPr wrap="square" lIns="0" rIns="0" tIns="0" bIns="0" anchor="t">
            <a:spAutoFit/>
          </a:bodyPr>
          <a:lstStyle/>
          <a:p>
            <a:pPr algn="l">
              <a:spcAft>
                <a:spcPts val="800"/>
              </a:spcAft>
            </a:pPr>
            <a:r>
              <a:rPr sz="1500" b="0" i="0">
                <a:solidFill>
                  <a:srgbClr val="1D2731"/>
                </a:solidFill>
                <a:latin typeface="Calibri"/>
              </a:rPr>
              <a:t/>
            </a:r>
            <a:r>
              <a:rPr sz="1500">
                <a:solidFill>
                  <a:srgbClr val="F2A900"/>
                </a:solidFill>
                <a:latin typeface="Calibri"/>
              </a:rPr>
              <a:t>▪  </a:t>
            </a:r>
            <a:r>
              <a:rPr sz="1500" b="0">
                <a:solidFill>
                  <a:srgbClr val="1D2731"/>
                </a:solidFill>
                <a:latin typeface="Calibri"/>
              </a:rPr>
              <a:t>position, orientation, mission</a:t>
            </a:r>
          </a:p>
          <a:p>
            <a:pPr>
              <a:spcAft>
                <a:spcPts val="800"/>
              </a:spcAft>
            </a:pPr>
            <a:r>
              <a:rPr sz="1500">
                <a:solidFill>
                  <a:srgbClr val="F2A900"/>
                </a:solidFill>
                <a:latin typeface="Calibri"/>
              </a:rPr>
              <a:t>▪  </a:t>
            </a:r>
            <a:r>
              <a:rPr sz="1500" b="0">
                <a:solidFill>
                  <a:srgbClr val="1D2731"/>
                </a:solidFill>
                <a:latin typeface="Calibri"/>
              </a:rPr>
              <a:t>4 rayons : mur, étagère, robot, humain</a:t>
            </a:r>
          </a:p>
          <a:p>
            <a:pPr>
              <a:spcAft>
                <a:spcPts val="800"/>
              </a:spcAft>
            </a:pPr>
            <a:r>
              <a:rPr sz="1500">
                <a:solidFill>
                  <a:srgbClr val="F2A900"/>
                </a:solidFill>
                <a:latin typeface="Calibri"/>
              </a:rPr>
              <a:t>▪  </a:t>
            </a:r>
            <a:r>
              <a:rPr sz="1500" b="0">
                <a:solidFill>
                  <a:srgbClr val="1D2731"/>
                </a:solidFill>
                <a:latin typeface="Calibri"/>
              </a:rPr>
              <a:t>les autres ne sont vus que par les rayons</a:t>
            </a:r>
          </a:p>
        </p:txBody>
      </p:sp>
      <p:sp>
        <p:nvSpPr>
          <p:cNvPr id="10" name="Rounded Rectangle 9"/>
          <p:cNvSpPr/>
          <p:nvPr/>
        </p:nvSpPr>
        <p:spPr>
          <a:xfrm>
            <a:off x="8158276" y="1691640"/>
            <a:ext cx="3484778" cy="242316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32596" y="1874519"/>
            <a:ext cx="2936138" cy="411480"/>
          </a:xfrm>
          <a:prstGeom prst="rect">
            <a:avLst/>
          </a:prstGeom>
          <a:noFill/>
        </p:spPr>
        <p:txBody>
          <a:bodyPr wrap="square" lIns="0" rIns="0" tIns="0" bIns="0" anchor="t">
            <a:spAutoFit/>
          </a:bodyPr>
          <a:lstStyle/>
          <a:p>
            <a:pPr algn="l">
              <a:spcAft>
                <a:spcPts val="600"/>
              </a:spcAft>
            </a:pPr>
            <a:r>
              <a:rPr sz="2000" b="1" i="0">
                <a:solidFill>
                  <a:srgbClr val="1D2731"/>
                </a:solidFill>
                <a:latin typeface="Calibri"/>
              </a:rPr>
              <a:t>Récompense</a:t>
            </a:r>
          </a:p>
        </p:txBody>
      </p:sp>
      <p:sp>
        <p:nvSpPr>
          <p:cNvPr id="12" name="TextBox 11"/>
          <p:cNvSpPr txBox="1"/>
          <p:nvPr/>
        </p:nvSpPr>
        <p:spPr>
          <a:xfrm>
            <a:off x="8432596" y="2423160"/>
            <a:ext cx="2936138" cy="1645920"/>
          </a:xfrm>
          <a:prstGeom prst="rect">
            <a:avLst/>
          </a:prstGeom>
          <a:noFill/>
        </p:spPr>
        <p:txBody>
          <a:bodyPr wrap="square" lIns="0" rIns="0" tIns="0" bIns="0" anchor="t">
            <a:spAutoFit/>
          </a:bodyPr>
          <a:lstStyle/>
          <a:p>
            <a:pPr algn="l">
              <a:spcAft>
                <a:spcPts val="800"/>
              </a:spcAft>
            </a:pPr>
            <a:r>
              <a:rPr sz="1500" b="0" i="0">
                <a:solidFill>
                  <a:srgbClr val="1D2731"/>
                </a:solidFill>
                <a:latin typeface="Calibri"/>
              </a:rPr>
              <a:t/>
            </a:r>
            <a:r>
              <a:rPr sz="1500">
                <a:solidFill>
                  <a:srgbClr val="F2A900"/>
                </a:solidFill>
                <a:latin typeface="Calibri"/>
              </a:rPr>
              <a:t>▪  </a:t>
            </a:r>
            <a:r>
              <a:rPr sz="1500" b="0">
                <a:solidFill>
                  <a:srgbClr val="1D2731"/>
                </a:solidFill>
                <a:latin typeface="Calibri"/>
              </a:rPr>
              <a:t>+10 par livraison</a:t>
            </a:r>
          </a:p>
          <a:p>
            <a:pPr>
              <a:spcAft>
                <a:spcPts val="800"/>
              </a:spcAft>
            </a:pPr>
            <a:r>
              <a:rPr sz="1500">
                <a:solidFill>
                  <a:srgbClr val="F2A900"/>
                </a:solidFill>
                <a:latin typeface="Calibri"/>
              </a:rPr>
              <a:t>▪  </a:t>
            </a:r>
            <a:r>
              <a:rPr sz="1500" b="0">
                <a:solidFill>
                  <a:srgbClr val="1D2731"/>
                </a:solidFill>
                <a:latin typeface="Calibri"/>
              </a:rPr>
              <a:t>−0,05 par pas, −1 si bloqué</a:t>
            </a:r>
          </a:p>
          <a:p>
            <a:pPr>
              <a:spcAft>
                <a:spcPts val="800"/>
              </a:spcAft>
            </a:pPr>
            <a:r>
              <a:rPr sz="1500">
                <a:solidFill>
                  <a:srgbClr val="F2A900"/>
                </a:solidFill>
                <a:latin typeface="Calibri"/>
              </a:rPr>
              <a:t>▪  </a:t>
            </a:r>
            <a:r>
              <a:rPr sz="1500" b="0">
                <a:solidFill>
                  <a:srgbClr val="1D2731"/>
                </a:solidFill>
                <a:latin typeface="Calibri"/>
              </a:rPr>
              <a:t>50 % propre, 50 % moyenne de flotte</a:t>
            </a:r>
          </a:p>
        </p:txBody>
      </p:sp>
      <p:sp>
        <p:nvSpPr>
          <p:cNvPr id="13" name="TextBox 12"/>
          <p:cNvSpPr txBox="1"/>
          <p:nvPr/>
        </p:nvSpPr>
        <p:spPr>
          <a:xfrm>
            <a:off x="548640" y="4434840"/>
            <a:ext cx="5486400" cy="365760"/>
          </a:xfrm>
          <a:prstGeom prst="rect">
            <a:avLst/>
          </a:prstGeom>
          <a:noFill/>
        </p:spPr>
        <p:txBody>
          <a:bodyPr wrap="square" lIns="0" rIns="0" tIns="0" bIns="0" anchor="t">
            <a:spAutoFit/>
          </a:bodyPr>
          <a:lstStyle/>
          <a:p>
            <a:pPr algn="l">
              <a:spcAft>
                <a:spcPts val="600"/>
              </a:spcAft>
            </a:pPr>
            <a:r>
              <a:rPr sz="1800" b="1" i="0">
                <a:solidFill>
                  <a:srgbClr val="1D2731"/>
                </a:solidFill>
                <a:latin typeface="Calibri"/>
              </a:rPr>
              <a:t>Scénarios de référence</a:t>
            </a:r>
          </a:p>
        </p:txBody>
      </p:sp>
      <p:sp>
        <p:nvSpPr>
          <p:cNvPr id="14" name="TextBox 13"/>
          <p:cNvSpPr txBox="1"/>
          <p:nvPr/>
        </p:nvSpPr>
        <p:spPr>
          <a:xfrm>
            <a:off x="548640" y="4892040"/>
            <a:ext cx="1097280" cy="365760"/>
          </a:xfrm>
          <a:prstGeom prst="rect">
            <a:avLst/>
          </a:prstGeom>
          <a:noFill/>
        </p:spPr>
        <p:txBody>
          <a:bodyPr wrap="square" lIns="0" rIns="0" tIns="0" bIns="0" anchor="t">
            <a:spAutoFit/>
          </a:bodyPr>
          <a:lstStyle/>
          <a:p>
            <a:pPr algn="l">
              <a:spcAft>
                <a:spcPts val="600"/>
              </a:spcAft>
            </a:pPr>
            <a:r>
              <a:rPr sz="1600" b="1" i="0">
                <a:solidFill>
                  <a:srgbClr val="1D2731"/>
                </a:solidFill>
                <a:latin typeface="Calibri"/>
              </a:rPr>
              <a:t>basic</a:t>
            </a:r>
          </a:p>
        </p:txBody>
      </p:sp>
      <p:sp>
        <p:nvSpPr>
          <p:cNvPr id="15" name="TextBox 14"/>
          <p:cNvSpPr txBox="1"/>
          <p:nvPr/>
        </p:nvSpPr>
        <p:spPr>
          <a:xfrm>
            <a:off x="1737360" y="4892040"/>
            <a:ext cx="9601200" cy="365760"/>
          </a:xfrm>
          <a:prstGeom prst="rect">
            <a:avLst/>
          </a:prstGeom>
          <a:noFill/>
        </p:spPr>
        <p:txBody>
          <a:bodyPr wrap="square" lIns="0" rIns="0" tIns="0" bIns="0" anchor="t">
            <a:spAutoFit/>
          </a:bodyPr>
          <a:lstStyle/>
          <a:p>
            <a:pPr algn="l">
              <a:spcAft>
                <a:spcPts val="600"/>
              </a:spcAft>
            </a:pPr>
            <a:r>
              <a:rPr sz="1600" b="0" i="0">
                <a:solidFill>
                  <a:srgbClr val="5B6670"/>
                </a:solidFill>
                <a:latin typeface="Calibri"/>
              </a:rPr>
              <a:t>carte 7×6 fixe, sans facteur</a:t>
            </a:r>
          </a:p>
        </p:txBody>
      </p:sp>
      <p:sp>
        <p:nvSpPr>
          <p:cNvPr id="16" name="TextBox 15"/>
          <p:cNvSpPr txBox="1"/>
          <p:nvPr/>
        </p:nvSpPr>
        <p:spPr>
          <a:xfrm>
            <a:off x="548640" y="5349240"/>
            <a:ext cx="1097280" cy="365760"/>
          </a:xfrm>
          <a:prstGeom prst="rect">
            <a:avLst/>
          </a:prstGeom>
          <a:noFill/>
        </p:spPr>
        <p:txBody>
          <a:bodyPr wrap="square" lIns="0" rIns="0" tIns="0" bIns="0" anchor="t">
            <a:spAutoFit/>
          </a:bodyPr>
          <a:lstStyle/>
          <a:p>
            <a:pPr algn="l">
              <a:spcAft>
                <a:spcPts val="600"/>
              </a:spcAft>
            </a:pPr>
            <a:r>
              <a:rPr sz="1600" b="1" i="0">
                <a:solidFill>
                  <a:srgbClr val="1D2731"/>
                </a:solidFill>
                <a:latin typeface="Calibri"/>
              </a:rPr>
              <a:t>hard</a:t>
            </a:r>
          </a:p>
        </p:txBody>
      </p:sp>
      <p:sp>
        <p:nvSpPr>
          <p:cNvPr id="17" name="TextBox 16"/>
          <p:cNvSpPr txBox="1"/>
          <p:nvPr/>
        </p:nvSpPr>
        <p:spPr>
          <a:xfrm>
            <a:off x="1737360" y="5349240"/>
            <a:ext cx="9601200" cy="365760"/>
          </a:xfrm>
          <a:prstGeom prst="rect">
            <a:avLst/>
          </a:prstGeom>
          <a:noFill/>
        </p:spPr>
        <p:txBody>
          <a:bodyPr wrap="square" lIns="0" rIns="0" tIns="0" bIns="0" anchor="t">
            <a:spAutoFit/>
          </a:bodyPr>
          <a:lstStyle/>
          <a:p>
            <a:pPr algn="l">
              <a:spcAft>
                <a:spcPts val="600"/>
              </a:spcAft>
            </a:pPr>
            <a:r>
              <a:rPr sz="1600" b="0" i="0">
                <a:solidFill>
                  <a:srgbClr val="5B6670"/>
                </a:solidFill>
                <a:latin typeface="Calibri"/>
              </a:rPr>
              <a:t>labyrinthe 11×9, 4 robots, 2 humains, priorités, robots lents</a:t>
            </a:r>
          </a:p>
        </p:txBody>
      </p:sp>
      <p:sp>
        <p:nvSpPr>
          <p:cNvPr id="18" name="TextBox 17"/>
          <p:cNvSpPr txBox="1"/>
          <p:nvPr/>
        </p:nvSpPr>
        <p:spPr>
          <a:xfrm>
            <a:off x="548640" y="5806440"/>
            <a:ext cx="1097280" cy="365760"/>
          </a:xfrm>
          <a:prstGeom prst="rect">
            <a:avLst/>
          </a:prstGeom>
          <a:noFill/>
        </p:spPr>
        <p:txBody>
          <a:bodyPr wrap="square" lIns="0" rIns="0" tIns="0" bIns="0" anchor="t">
            <a:spAutoFit/>
          </a:bodyPr>
          <a:lstStyle/>
          <a:p>
            <a:pPr algn="l">
              <a:spcAft>
                <a:spcPts val="600"/>
              </a:spcAft>
            </a:pPr>
            <a:r>
              <a:rPr sz="1600" b="1" i="0">
                <a:solidFill>
                  <a:srgbClr val="1D2731"/>
                </a:solidFill>
                <a:latin typeface="Calibri"/>
              </a:rPr>
              <a:t>big</a:t>
            </a:r>
          </a:p>
        </p:txBody>
      </p:sp>
      <p:sp>
        <p:nvSpPr>
          <p:cNvPr id="19" name="TextBox 18"/>
          <p:cNvSpPr txBox="1"/>
          <p:nvPr/>
        </p:nvSpPr>
        <p:spPr>
          <a:xfrm>
            <a:off x="1737360" y="5806440"/>
            <a:ext cx="9601200" cy="365760"/>
          </a:xfrm>
          <a:prstGeom prst="rect">
            <a:avLst/>
          </a:prstGeom>
          <a:noFill/>
        </p:spPr>
        <p:txBody>
          <a:bodyPr wrap="square" lIns="0" rIns="0" tIns="0" bIns="0" anchor="t">
            <a:spAutoFit/>
          </a:bodyPr>
          <a:lstStyle/>
          <a:p>
            <a:pPr algn="l">
              <a:spcAft>
                <a:spcPts val="600"/>
              </a:spcAft>
            </a:pPr>
            <a:r>
              <a:rPr sz="1600" b="0" i="0">
                <a:solidFill>
                  <a:srgbClr val="5B6670"/>
                </a:solidFill>
                <a:latin typeface="Calibri"/>
              </a:rPr>
              <a:t>labyrinthe 21×21, 6 robots, 3 humains, tout activé, 400 pas</a:t>
            </a:r>
          </a:p>
        </p:txBody>
      </p:sp>
      <p:sp>
        <p:nvSpPr>
          <p:cNvPr id="20" name="TextBox 19"/>
          <p:cNvSpPr txBox="1"/>
          <p:nvPr/>
        </p:nvSpPr>
        <p:spPr>
          <a:xfrm>
            <a:off x="10728655" y="6446520"/>
            <a:ext cx="914400" cy="274320"/>
          </a:xfrm>
          <a:prstGeom prst="rect">
            <a:avLst/>
          </a:prstGeom>
          <a:noFill/>
        </p:spPr>
        <p:txBody>
          <a:bodyPr wrap="square" lIns="0" rIns="0" tIns="0" bIns="0" anchor="t">
            <a:spAutoFit/>
          </a:bodyPr>
          <a:lstStyle/>
          <a:p>
            <a:pPr algn="r">
              <a:spcAft>
                <a:spcPts val="600"/>
              </a:spcAft>
            </a:pPr>
            <a:r>
              <a:rPr sz="1100" b="0" i="0">
                <a:solidFill>
                  <a:srgbClr val="5B667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spcAft>
                <a:spcPts val="600"/>
              </a:spcAft>
            </a:pPr>
            <a:r>
              <a:rPr sz="1200" b="1" i="0">
                <a:solidFill>
                  <a:srgbClr val="5B6670"/>
                </a:solidFill>
                <a:latin typeface="Calibri"/>
              </a:rPr>
              <a:t>PROTOCOLE</a:t>
            </a:r>
          </a:p>
        </p:txBody>
      </p:sp>
      <p:sp>
        <p:nvSpPr>
          <p:cNvPr id="3" name="Titre"/>
          <p:cNvSpPr txBox="1"/>
          <p:nvPr/>
        </p:nvSpPr>
        <p:spPr>
          <a:xfrm>
            <a:off x="548640" y="640080"/>
            <a:ext cx="11094415" cy="731520"/>
          </a:xfrm>
          <a:prstGeom prst="rect">
            <a:avLst/>
          </a:prstGeom>
          <a:noFill/>
        </p:spPr>
        <p:txBody>
          <a:bodyPr wrap="square" lIns="0" rIns="0" tIns="0" bIns="0" anchor="t">
            <a:spAutoFit/>
          </a:bodyPr>
          <a:lstStyle/>
          <a:p>
            <a:pPr algn="l">
              <a:spcAft>
                <a:spcPts val="600"/>
              </a:spcAft>
            </a:pPr>
            <a:r>
              <a:rPr sz="3000" b="1" i="0">
                <a:solidFill>
                  <a:srgbClr val="1D2731"/>
                </a:solidFill>
                <a:latin typeface="Calibri"/>
              </a:rPr>
              <a:t>Une courbe d'entraînement n'est pas un résultat</a:t>
            </a:r>
          </a:p>
        </p:txBody>
      </p:sp>
      <p:sp>
        <p:nvSpPr>
          <p:cNvPr id="4" name="Rounded Rectangle 3"/>
          <p:cNvSpPr/>
          <p:nvPr/>
        </p:nvSpPr>
        <p:spPr>
          <a:xfrm>
            <a:off x="548640" y="1828800"/>
            <a:ext cx="3484778" cy="310896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57400"/>
            <a:ext cx="2844698" cy="1097280"/>
          </a:xfrm>
          <a:prstGeom prst="rect">
            <a:avLst/>
          </a:prstGeom>
          <a:noFill/>
        </p:spPr>
        <p:txBody>
          <a:bodyPr wrap="square" lIns="0" rIns="0" tIns="0" bIns="0" anchor="t">
            <a:spAutoFit/>
          </a:bodyPr>
          <a:lstStyle/>
          <a:p>
            <a:pPr algn="l">
              <a:spcAft>
                <a:spcPts val="600"/>
              </a:spcAft>
            </a:pPr>
            <a:r>
              <a:rPr sz="6000" b="1" i="0">
                <a:solidFill>
                  <a:srgbClr val="F2A900"/>
                </a:solidFill>
                <a:latin typeface="Calibri"/>
              </a:rPr>
              <a:t>100</a:t>
            </a:r>
          </a:p>
        </p:txBody>
      </p:sp>
      <p:sp>
        <p:nvSpPr>
          <p:cNvPr id="6" name="TextBox 5"/>
          <p:cNvSpPr txBox="1"/>
          <p:nvPr/>
        </p:nvSpPr>
        <p:spPr>
          <a:xfrm>
            <a:off x="868680" y="3246120"/>
            <a:ext cx="2844698" cy="914400"/>
          </a:xfrm>
          <a:prstGeom prst="rect">
            <a:avLst/>
          </a:prstGeom>
          <a:noFill/>
        </p:spPr>
        <p:txBody>
          <a:bodyPr wrap="square" lIns="0" rIns="0" tIns="0" bIns="0" anchor="t">
            <a:spAutoFit/>
          </a:bodyPr>
          <a:lstStyle/>
          <a:p>
            <a:pPr algn="l">
              <a:spcAft>
                <a:spcPts val="600"/>
              </a:spcAft>
            </a:pPr>
            <a:r>
              <a:rPr sz="1800" b="1" i="0">
                <a:solidFill>
                  <a:srgbClr val="1D2731"/>
                </a:solidFill>
                <a:latin typeface="Calibri"/>
              </a:rPr>
              <a:t>épisodes par chiffre rapporté</a:t>
            </a:r>
          </a:p>
        </p:txBody>
      </p:sp>
      <p:sp>
        <p:nvSpPr>
          <p:cNvPr id="7" name="TextBox 6"/>
          <p:cNvSpPr txBox="1"/>
          <p:nvPr/>
        </p:nvSpPr>
        <p:spPr>
          <a:xfrm>
            <a:off x="868680" y="4206240"/>
            <a:ext cx="2844698" cy="73152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à 20, le glouton passe de 5,00 à 6,23 : bruit</a:t>
            </a:r>
          </a:p>
        </p:txBody>
      </p:sp>
      <p:sp>
        <p:nvSpPr>
          <p:cNvPr id="8" name="Rounded Rectangle 7"/>
          <p:cNvSpPr/>
          <p:nvPr/>
        </p:nvSpPr>
        <p:spPr>
          <a:xfrm>
            <a:off x="4353458" y="1828800"/>
            <a:ext cx="3484778" cy="310896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73498" y="2057400"/>
            <a:ext cx="2844698" cy="1097280"/>
          </a:xfrm>
          <a:prstGeom prst="rect">
            <a:avLst/>
          </a:prstGeom>
          <a:noFill/>
        </p:spPr>
        <p:txBody>
          <a:bodyPr wrap="square" lIns="0" rIns="0" tIns="0" bIns="0" anchor="t">
            <a:spAutoFit/>
          </a:bodyPr>
          <a:lstStyle/>
          <a:p>
            <a:pPr algn="l">
              <a:spcAft>
                <a:spcPts val="600"/>
              </a:spcAft>
            </a:pPr>
            <a:r>
              <a:rPr sz="6000" b="1" i="0">
                <a:solidFill>
                  <a:srgbClr val="F2A900"/>
                </a:solidFill>
                <a:latin typeface="Calibri"/>
              </a:rPr>
              <a:t>0</a:t>
            </a:r>
          </a:p>
        </p:txBody>
      </p:sp>
      <p:sp>
        <p:nvSpPr>
          <p:cNvPr id="10" name="TextBox 9"/>
          <p:cNvSpPr txBox="1"/>
          <p:nvPr/>
        </p:nvSpPr>
        <p:spPr>
          <a:xfrm>
            <a:off x="4673498" y="3246120"/>
            <a:ext cx="2844698" cy="914400"/>
          </a:xfrm>
          <a:prstGeom prst="rect">
            <a:avLst/>
          </a:prstGeom>
          <a:noFill/>
        </p:spPr>
        <p:txBody>
          <a:bodyPr wrap="square" lIns="0" rIns="0" tIns="0" bIns="0" anchor="t">
            <a:spAutoFit/>
          </a:bodyPr>
          <a:lstStyle/>
          <a:p>
            <a:pPr algn="l">
              <a:spcAft>
                <a:spcPts val="600"/>
              </a:spcAft>
            </a:pPr>
            <a:r>
              <a:rPr sz="1800" b="1" i="0">
                <a:solidFill>
                  <a:srgbClr val="1D2731"/>
                </a:solidFill>
                <a:latin typeface="Calibri"/>
              </a:rPr>
              <a:t>carte commune entre entraînement et évaluation</a:t>
            </a:r>
          </a:p>
        </p:txBody>
      </p:sp>
      <p:sp>
        <p:nvSpPr>
          <p:cNvPr id="11" name="TextBox 10"/>
          <p:cNvSpPr txBox="1"/>
          <p:nvPr/>
        </p:nvSpPr>
        <p:spPr>
          <a:xfrm>
            <a:off x="4673498" y="4206240"/>
            <a:ext cx="2844698" cy="73152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le lanceur refuse de démarrer sinon</a:t>
            </a:r>
          </a:p>
        </p:txBody>
      </p:sp>
      <p:sp>
        <p:nvSpPr>
          <p:cNvPr id="12" name="Rounded Rectangle 11"/>
          <p:cNvSpPr/>
          <p:nvPr/>
        </p:nvSpPr>
        <p:spPr>
          <a:xfrm>
            <a:off x="8158276" y="1828800"/>
            <a:ext cx="3484778" cy="310896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78316" y="2057400"/>
            <a:ext cx="2844698" cy="1097280"/>
          </a:xfrm>
          <a:prstGeom prst="rect">
            <a:avLst/>
          </a:prstGeom>
          <a:noFill/>
        </p:spPr>
        <p:txBody>
          <a:bodyPr wrap="square" lIns="0" rIns="0" tIns="0" bIns="0" anchor="t">
            <a:spAutoFit/>
          </a:bodyPr>
          <a:lstStyle/>
          <a:p>
            <a:pPr algn="l">
              <a:spcAft>
                <a:spcPts val="600"/>
              </a:spcAft>
            </a:pPr>
            <a:r>
              <a:rPr sz="6000" b="1" i="0">
                <a:solidFill>
                  <a:srgbClr val="F2A900"/>
                </a:solidFill>
                <a:latin typeface="Calibri"/>
              </a:rPr>
              <a:t>3000</a:t>
            </a:r>
          </a:p>
        </p:txBody>
      </p:sp>
      <p:sp>
        <p:nvSpPr>
          <p:cNvPr id="14" name="TextBox 13"/>
          <p:cNvSpPr txBox="1"/>
          <p:nvPr/>
        </p:nvSpPr>
        <p:spPr>
          <a:xfrm>
            <a:off x="8478316" y="3246120"/>
            <a:ext cx="2844698" cy="914400"/>
          </a:xfrm>
          <a:prstGeom prst="rect">
            <a:avLst/>
          </a:prstGeom>
          <a:noFill/>
        </p:spPr>
        <p:txBody>
          <a:bodyPr wrap="square" lIns="0" rIns="0" tIns="0" bIns="0" anchor="t">
            <a:spAutoFit/>
          </a:bodyPr>
          <a:lstStyle/>
          <a:p>
            <a:pPr algn="l">
              <a:spcAft>
                <a:spcPts val="600"/>
              </a:spcAft>
            </a:pPr>
            <a:r>
              <a:rPr sz="1800" b="1" i="0">
                <a:solidFill>
                  <a:srgbClr val="1D2731"/>
                </a:solidFill>
                <a:latin typeface="Calibri"/>
              </a:rPr>
              <a:t>épisodes « appris » par erreur</a:t>
            </a:r>
          </a:p>
        </p:txBody>
      </p:sp>
      <p:sp>
        <p:nvSpPr>
          <p:cNvPr id="15" name="TextBox 14"/>
          <p:cNvSpPr txBox="1"/>
          <p:nvPr/>
        </p:nvSpPr>
        <p:spPr>
          <a:xfrm>
            <a:off x="8478316" y="4206240"/>
            <a:ext cx="2844698" cy="73152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c'était le professeur qui livrait</a:t>
            </a:r>
          </a:p>
        </p:txBody>
      </p:sp>
      <p:sp>
        <p:nvSpPr>
          <p:cNvPr id="16" name="TextBox 15"/>
          <p:cNvSpPr txBox="1"/>
          <p:nvPr/>
        </p:nvSpPr>
        <p:spPr>
          <a:xfrm>
            <a:off x="548640" y="5349240"/>
            <a:ext cx="11094415" cy="731520"/>
          </a:xfrm>
          <a:prstGeom prst="rect">
            <a:avLst/>
          </a:prstGeom>
          <a:noFill/>
        </p:spPr>
        <p:txBody>
          <a:bodyPr wrap="square" lIns="0" rIns="0" tIns="0" bIns="0" anchor="t">
            <a:spAutoFit/>
          </a:bodyPr>
          <a:lstStyle/>
          <a:p>
            <a:pPr algn="l">
              <a:spcAft>
                <a:spcPts val="600"/>
              </a:spcAft>
            </a:pPr>
            <a:r>
              <a:rPr sz="1500" b="0" i="0">
                <a:solidFill>
                  <a:srgbClr val="5B6670"/>
                </a:solidFill>
                <a:latin typeface="Calibri"/>
              </a:rPr>
              <a:t>On rapporte d'abord les livraisons et les actions invalides, puis les blocages ; le retour moyen a un plancher indépendant de la politique.</a:t>
            </a:r>
          </a:p>
        </p:txBody>
      </p:sp>
      <p:sp>
        <p:nvSpPr>
          <p:cNvPr id="17" name="TextBox 16"/>
          <p:cNvSpPr txBox="1"/>
          <p:nvPr/>
        </p:nvSpPr>
        <p:spPr>
          <a:xfrm>
            <a:off x="10728655" y="6446520"/>
            <a:ext cx="914400" cy="274320"/>
          </a:xfrm>
          <a:prstGeom prst="rect">
            <a:avLst/>
          </a:prstGeom>
          <a:noFill/>
        </p:spPr>
        <p:txBody>
          <a:bodyPr wrap="square" lIns="0" rIns="0" tIns="0" bIns="0" anchor="t">
            <a:spAutoFit/>
          </a:bodyPr>
          <a:lstStyle/>
          <a:p>
            <a:pPr algn="r">
              <a:spcAft>
                <a:spcPts val="600"/>
              </a:spcAft>
            </a:pPr>
            <a:r>
              <a:rPr sz="1100" b="0" i="0">
                <a:solidFill>
                  <a:srgbClr val="5B667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spcAft>
                <a:spcPts val="600"/>
              </a:spcAft>
            </a:pPr>
            <a:r>
              <a:rPr sz="1200" b="1" i="0">
                <a:solidFill>
                  <a:srgbClr val="5B6670"/>
                </a:solidFill>
                <a:latin typeface="Calibri"/>
              </a:rPr>
              <a:t>MÉTHODES</a:t>
            </a:r>
          </a:p>
        </p:txBody>
      </p:sp>
      <p:sp>
        <p:nvSpPr>
          <p:cNvPr id="3" name="Titre"/>
          <p:cNvSpPr txBox="1"/>
          <p:nvPr/>
        </p:nvSpPr>
        <p:spPr>
          <a:xfrm>
            <a:off x="548640" y="640080"/>
            <a:ext cx="11094415" cy="731520"/>
          </a:xfrm>
          <a:prstGeom prst="rect">
            <a:avLst/>
          </a:prstGeom>
          <a:noFill/>
        </p:spPr>
        <p:txBody>
          <a:bodyPr wrap="square" lIns="0" rIns="0" tIns="0" bIns="0" anchor="t">
            <a:spAutoFit/>
          </a:bodyPr>
          <a:lstStyle/>
          <a:p>
            <a:pPr algn="l">
              <a:spcAft>
                <a:spcPts val="600"/>
              </a:spcAft>
            </a:pPr>
            <a:r>
              <a:rPr sz="3000" b="1" i="0">
                <a:solidFill>
                  <a:srgbClr val="1D2731"/>
                </a:solidFill>
                <a:latin typeface="Calibri"/>
              </a:rPr>
              <a:t>Cinq façons de décider, du tabulaire au planificateur</a:t>
            </a:r>
          </a:p>
        </p:txBody>
      </p:sp>
      <p:sp>
        <p:nvSpPr>
          <p:cNvPr id="4" name="Rounded Rectangle 3"/>
          <p:cNvSpPr/>
          <p:nvPr/>
        </p:nvSpPr>
        <p:spPr>
          <a:xfrm>
            <a:off x="548640" y="1828800"/>
            <a:ext cx="2036003" cy="301752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057400"/>
            <a:ext cx="457200" cy="457200"/>
          </a:xfrm>
          <a:prstGeom prst="ellipse">
            <a:avLst/>
          </a:prstGeom>
          <a:solidFill>
            <a:srgbClr val="5B667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6" name="TextBox 5"/>
          <p:cNvSpPr txBox="1"/>
          <p:nvPr/>
        </p:nvSpPr>
        <p:spPr>
          <a:xfrm>
            <a:off x="777240" y="2743200"/>
            <a:ext cx="1670243" cy="822960"/>
          </a:xfrm>
          <a:prstGeom prst="rect">
            <a:avLst/>
          </a:prstGeom>
          <a:noFill/>
        </p:spPr>
        <p:txBody>
          <a:bodyPr wrap="square" lIns="0" rIns="0" tIns="0" bIns="0" anchor="t">
            <a:spAutoFit/>
          </a:bodyPr>
          <a:lstStyle/>
          <a:p>
            <a:pPr algn="l">
              <a:spcAft>
                <a:spcPts val="600"/>
              </a:spcAft>
            </a:pPr>
            <a:r>
              <a:rPr sz="1800" b="1" i="0">
                <a:solidFill>
                  <a:srgbClr val="1D2731"/>
                </a:solidFill>
                <a:latin typeface="Calibri"/>
              </a:rPr>
              <a:t>Glouton</a:t>
            </a:r>
          </a:p>
        </p:txBody>
      </p:sp>
      <p:sp>
        <p:nvSpPr>
          <p:cNvPr id="7" name="TextBox 6"/>
          <p:cNvSpPr txBox="1"/>
          <p:nvPr/>
        </p:nvSpPr>
        <p:spPr>
          <a:xfrm>
            <a:off x="777240" y="3611880"/>
            <a:ext cx="1670243" cy="73152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BFS à chaque pas, ε = 0,1</a:t>
            </a:r>
          </a:p>
        </p:txBody>
      </p:sp>
      <p:sp>
        <p:nvSpPr>
          <p:cNvPr id="8" name="TextBox 7"/>
          <p:cNvSpPr txBox="1"/>
          <p:nvPr/>
        </p:nvSpPr>
        <p:spPr>
          <a:xfrm>
            <a:off x="777240" y="4389120"/>
            <a:ext cx="1670243" cy="274320"/>
          </a:xfrm>
          <a:prstGeom prst="rect">
            <a:avLst/>
          </a:prstGeom>
          <a:noFill/>
        </p:spPr>
        <p:txBody>
          <a:bodyPr wrap="square" lIns="0" rIns="0" tIns="0" bIns="0" anchor="t">
            <a:spAutoFit/>
          </a:bodyPr>
          <a:lstStyle/>
          <a:p>
            <a:pPr algn="l">
              <a:spcAft>
                <a:spcPts val="600"/>
              </a:spcAft>
            </a:pPr>
            <a:r>
              <a:rPr sz="1100" b="1" i="0">
                <a:solidFill>
                  <a:srgbClr val="5B6670"/>
                </a:solidFill>
                <a:latin typeface="Calibri"/>
              </a:rPr>
              <a:t>RÉFÉRENCE</a:t>
            </a:r>
          </a:p>
        </p:txBody>
      </p:sp>
      <p:sp>
        <p:nvSpPr>
          <p:cNvPr id="9" name="Rounded Rectangle 8"/>
          <p:cNvSpPr/>
          <p:nvPr/>
        </p:nvSpPr>
        <p:spPr>
          <a:xfrm>
            <a:off x="2813243" y="1828800"/>
            <a:ext cx="2036003" cy="301752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041843" y="205740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D2731"/>
                </a:solidFill>
                <a:latin typeface="Calibri"/>
              </a:rPr>
              <a:t>2</a:t>
            </a:r>
          </a:p>
        </p:txBody>
      </p:sp>
      <p:sp>
        <p:nvSpPr>
          <p:cNvPr id="11" name="TextBox 10"/>
          <p:cNvSpPr txBox="1"/>
          <p:nvPr/>
        </p:nvSpPr>
        <p:spPr>
          <a:xfrm>
            <a:off x="3041843" y="2743200"/>
            <a:ext cx="1670243" cy="822960"/>
          </a:xfrm>
          <a:prstGeom prst="rect">
            <a:avLst/>
          </a:prstGeom>
          <a:noFill/>
        </p:spPr>
        <p:txBody>
          <a:bodyPr wrap="square" lIns="0" rIns="0" tIns="0" bIns="0" anchor="t">
            <a:spAutoFit/>
          </a:bodyPr>
          <a:lstStyle/>
          <a:p>
            <a:pPr algn="l">
              <a:spcAft>
                <a:spcPts val="600"/>
              </a:spcAft>
            </a:pPr>
            <a:r>
              <a:rPr sz="1800" b="1" i="0">
                <a:solidFill>
                  <a:srgbClr val="1D2731"/>
                </a:solidFill>
                <a:latin typeface="Calibri"/>
              </a:rPr>
              <a:t>Q-table centralisée</a:t>
            </a:r>
          </a:p>
        </p:txBody>
      </p:sp>
      <p:sp>
        <p:nvSpPr>
          <p:cNvPr id="12" name="TextBox 11"/>
          <p:cNvSpPr txBox="1"/>
          <p:nvPr/>
        </p:nvSpPr>
        <p:spPr>
          <a:xfrm>
            <a:off x="3041843" y="3611880"/>
            <a:ext cx="1670243" cy="73152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une table, 6ⁿ actions jointes</a:t>
            </a:r>
          </a:p>
        </p:txBody>
      </p:sp>
      <p:sp>
        <p:nvSpPr>
          <p:cNvPr id="13" name="TextBox 12"/>
          <p:cNvSpPr txBox="1"/>
          <p:nvPr/>
        </p:nvSpPr>
        <p:spPr>
          <a:xfrm>
            <a:off x="3041843" y="4389120"/>
            <a:ext cx="1670243" cy="274320"/>
          </a:xfrm>
          <a:prstGeom prst="rect">
            <a:avLst/>
          </a:prstGeom>
          <a:noFill/>
        </p:spPr>
        <p:txBody>
          <a:bodyPr wrap="square" lIns="0" rIns="0" tIns="0" bIns="0" anchor="t">
            <a:spAutoFit/>
          </a:bodyPr>
          <a:lstStyle/>
          <a:p>
            <a:pPr algn="l">
              <a:spcAft>
                <a:spcPts val="600"/>
              </a:spcAft>
            </a:pPr>
            <a:r>
              <a:rPr sz="1100" b="1" i="0">
                <a:solidFill>
                  <a:srgbClr val="5B6670"/>
                </a:solidFill>
                <a:latin typeface="Calibri"/>
              </a:rPr>
              <a:t>TABULAIRE</a:t>
            </a:r>
          </a:p>
        </p:txBody>
      </p:sp>
      <p:sp>
        <p:nvSpPr>
          <p:cNvPr id="14" name="Rounded Rectangle 13"/>
          <p:cNvSpPr/>
          <p:nvPr/>
        </p:nvSpPr>
        <p:spPr>
          <a:xfrm>
            <a:off x="5077846" y="1828800"/>
            <a:ext cx="2036003" cy="301752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06446" y="205740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D2731"/>
                </a:solidFill>
                <a:latin typeface="Calibri"/>
              </a:rPr>
              <a:t>3</a:t>
            </a:r>
          </a:p>
        </p:txBody>
      </p:sp>
      <p:sp>
        <p:nvSpPr>
          <p:cNvPr id="16" name="TextBox 15"/>
          <p:cNvSpPr txBox="1"/>
          <p:nvPr/>
        </p:nvSpPr>
        <p:spPr>
          <a:xfrm>
            <a:off x="5306446" y="2743200"/>
            <a:ext cx="1670243" cy="822960"/>
          </a:xfrm>
          <a:prstGeom prst="rect">
            <a:avLst/>
          </a:prstGeom>
          <a:noFill/>
        </p:spPr>
        <p:txBody>
          <a:bodyPr wrap="square" lIns="0" rIns="0" tIns="0" bIns="0" anchor="t">
            <a:spAutoFit/>
          </a:bodyPr>
          <a:lstStyle/>
          <a:p>
            <a:pPr algn="l">
              <a:spcAft>
                <a:spcPts val="600"/>
              </a:spcAft>
            </a:pPr>
            <a:r>
              <a:rPr sz="1800" b="1" i="0">
                <a:solidFill>
                  <a:srgbClr val="1D2731"/>
                </a:solidFill>
                <a:latin typeface="Calibri"/>
              </a:rPr>
              <a:t>Q-learning indépendant</a:t>
            </a:r>
          </a:p>
        </p:txBody>
      </p:sp>
      <p:sp>
        <p:nvSpPr>
          <p:cNvPr id="17" name="TextBox 16"/>
          <p:cNvSpPr txBox="1"/>
          <p:nvPr/>
        </p:nvSpPr>
        <p:spPr>
          <a:xfrm>
            <a:off x="5306446" y="3611880"/>
            <a:ext cx="1670243" cy="73152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une table par robot</a:t>
            </a:r>
          </a:p>
        </p:txBody>
      </p:sp>
      <p:sp>
        <p:nvSpPr>
          <p:cNvPr id="18" name="TextBox 17"/>
          <p:cNvSpPr txBox="1"/>
          <p:nvPr/>
        </p:nvSpPr>
        <p:spPr>
          <a:xfrm>
            <a:off x="5306446" y="4389120"/>
            <a:ext cx="1670243" cy="274320"/>
          </a:xfrm>
          <a:prstGeom prst="rect">
            <a:avLst/>
          </a:prstGeom>
          <a:noFill/>
        </p:spPr>
        <p:txBody>
          <a:bodyPr wrap="square" lIns="0" rIns="0" tIns="0" bIns="0" anchor="t">
            <a:spAutoFit/>
          </a:bodyPr>
          <a:lstStyle/>
          <a:p>
            <a:pPr algn="l">
              <a:spcAft>
                <a:spcPts val="600"/>
              </a:spcAft>
            </a:pPr>
            <a:r>
              <a:rPr sz="1100" b="1" i="0">
                <a:solidFill>
                  <a:srgbClr val="5B6670"/>
                </a:solidFill>
                <a:latin typeface="Calibri"/>
              </a:rPr>
              <a:t>TABULAIRE</a:t>
            </a:r>
          </a:p>
        </p:txBody>
      </p:sp>
      <p:sp>
        <p:nvSpPr>
          <p:cNvPr id="19" name="Rounded Rectangle 18"/>
          <p:cNvSpPr/>
          <p:nvPr/>
        </p:nvSpPr>
        <p:spPr>
          <a:xfrm>
            <a:off x="7342449" y="1828800"/>
            <a:ext cx="2036003" cy="301752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71049" y="2057400"/>
            <a:ext cx="457200" cy="457200"/>
          </a:xfrm>
          <a:prstGeom prst="ellipse">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21" name="TextBox 20"/>
          <p:cNvSpPr txBox="1"/>
          <p:nvPr/>
        </p:nvSpPr>
        <p:spPr>
          <a:xfrm>
            <a:off x="7571049" y="2743200"/>
            <a:ext cx="1670243" cy="822960"/>
          </a:xfrm>
          <a:prstGeom prst="rect">
            <a:avLst/>
          </a:prstGeom>
          <a:noFill/>
        </p:spPr>
        <p:txBody>
          <a:bodyPr wrap="square" lIns="0" rIns="0" tIns="0" bIns="0" anchor="t">
            <a:spAutoFit/>
          </a:bodyPr>
          <a:lstStyle/>
          <a:p>
            <a:pPr algn="l">
              <a:spcAft>
                <a:spcPts val="600"/>
              </a:spcAft>
            </a:pPr>
            <a:r>
              <a:rPr sz="1800" b="1" i="0">
                <a:solidFill>
                  <a:srgbClr val="1D2731"/>
                </a:solidFill>
                <a:latin typeface="Calibri"/>
              </a:rPr>
              <a:t>PPO centralisé</a:t>
            </a:r>
          </a:p>
        </p:txBody>
      </p:sp>
      <p:sp>
        <p:nvSpPr>
          <p:cNvPr id="22" name="TextBox 21"/>
          <p:cNvSpPr txBox="1"/>
          <p:nvPr/>
        </p:nvSpPr>
        <p:spPr>
          <a:xfrm>
            <a:off x="7571049" y="3611880"/>
            <a:ext cx="1670243" cy="73152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masqué, encodeur par paires</a:t>
            </a:r>
          </a:p>
        </p:txBody>
      </p:sp>
      <p:sp>
        <p:nvSpPr>
          <p:cNvPr id="23" name="TextBox 22"/>
          <p:cNvSpPr txBox="1"/>
          <p:nvPr/>
        </p:nvSpPr>
        <p:spPr>
          <a:xfrm>
            <a:off x="7571049" y="4389120"/>
            <a:ext cx="1670243" cy="274320"/>
          </a:xfrm>
          <a:prstGeom prst="rect">
            <a:avLst/>
          </a:prstGeom>
          <a:noFill/>
        </p:spPr>
        <p:txBody>
          <a:bodyPr wrap="square" lIns="0" rIns="0" tIns="0" bIns="0" anchor="t">
            <a:spAutoFit/>
          </a:bodyPr>
          <a:lstStyle/>
          <a:p>
            <a:pPr algn="l">
              <a:spcAft>
                <a:spcPts val="600"/>
              </a:spcAft>
            </a:pPr>
            <a:r>
              <a:rPr sz="1100" b="1" i="0">
                <a:solidFill>
                  <a:srgbClr val="5B6670"/>
                </a:solidFill>
                <a:latin typeface="Calibri"/>
              </a:rPr>
              <a:t>PROFOND</a:t>
            </a:r>
          </a:p>
        </p:txBody>
      </p:sp>
      <p:sp>
        <p:nvSpPr>
          <p:cNvPr id="24" name="Rounded Rectangle 23"/>
          <p:cNvSpPr/>
          <p:nvPr/>
        </p:nvSpPr>
        <p:spPr>
          <a:xfrm>
            <a:off x="9607052" y="1828800"/>
            <a:ext cx="2036003" cy="301752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835652" y="2057400"/>
            <a:ext cx="457200" cy="457200"/>
          </a:xfrm>
          <a:prstGeom prst="ellipse">
            <a:avLst/>
          </a:prstGeom>
          <a:solidFill>
            <a:srgbClr val="5B667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26" name="TextBox 25"/>
          <p:cNvSpPr txBox="1"/>
          <p:nvPr/>
        </p:nvSpPr>
        <p:spPr>
          <a:xfrm>
            <a:off x="9835652" y="2743200"/>
            <a:ext cx="1670243" cy="822960"/>
          </a:xfrm>
          <a:prstGeom prst="rect">
            <a:avLst/>
          </a:prstGeom>
          <a:noFill/>
        </p:spPr>
        <p:txBody>
          <a:bodyPr wrap="square" lIns="0" rIns="0" tIns="0" bIns="0" anchor="t">
            <a:spAutoFit/>
          </a:bodyPr>
          <a:lstStyle/>
          <a:p>
            <a:pPr algn="l">
              <a:spcAft>
                <a:spcPts val="600"/>
              </a:spcAft>
            </a:pPr>
            <a:r>
              <a:rPr sz="1800" b="1" i="0">
                <a:solidFill>
                  <a:srgbClr val="1D2731"/>
                </a:solidFill>
                <a:latin typeface="Calibri"/>
              </a:rPr>
              <a:t>Planificateur</a:t>
            </a:r>
          </a:p>
        </p:txBody>
      </p:sp>
      <p:sp>
        <p:nvSpPr>
          <p:cNvPr id="27" name="TextBox 26"/>
          <p:cNvSpPr txBox="1"/>
          <p:nvPr/>
        </p:nvSpPr>
        <p:spPr>
          <a:xfrm>
            <a:off x="9835652" y="3611880"/>
            <a:ext cx="1670243" cy="73152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réservations espace-temps</a:t>
            </a:r>
          </a:p>
        </p:txBody>
      </p:sp>
      <p:sp>
        <p:nvSpPr>
          <p:cNvPr id="28" name="TextBox 27"/>
          <p:cNvSpPr txBox="1"/>
          <p:nvPr/>
        </p:nvSpPr>
        <p:spPr>
          <a:xfrm>
            <a:off x="9835652" y="4389120"/>
            <a:ext cx="1670243" cy="274320"/>
          </a:xfrm>
          <a:prstGeom prst="rect">
            <a:avLst/>
          </a:prstGeom>
          <a:noFill/>
        </p:spPr>
        <p:txBody>
          <a:bodyPr wrap="square" lIns="0" rIns="0" tIns="0" bIns="0" anchor="t">
            <a:spAutoFit/>
          </a:bodyPr>
          <a:lstStyle/>
          <a:p>
            <a:pPr algn="l">
              <a:spcAft>
                <a:spcPts val="600"/>
              </a:spcAft>
            </a:pPr>
            <a:r>
              <a:rPr sz="1100" b="1" i="0">
                <a:solidFill>
                  <a:srgbClr val="5B6670"/>
                </a:solidFill>
                <a:latin typeface="Calibri"/>
              </a:rPr>
              <a:t>NON APPRIS</a:t>
            </a:r>
          </a:p>
        </p:txBody>
      </p:sp>
      <p:sp>
        <p:nvSpPr>
          <p:cNvPr id="29" name="TextBox 28"/>
          <p:cNvSpPr txBox="1"/>
          <p:nvPr/>
        </p:nvSpPr>
        <p:spPr>
          <a:xfrm>
            <a:off x="548640" y="5257800"/>
            <a:ext cx="11094415" cy="731520"/>
          </a:xfrm>
          <a:prstGeom prst="rect">
            <a:avLst/>
          </a:prstGeom>
          <a:noFill/>
        </p:spPr>
        <p:txBody>
          <a:bodyPr wrap="square" lIns="0" rIns="0" tIns="0" bIns="0" anchor="t">
            <a:spAutoFit/>
          </a:bodyPr>
          <a:lstStyle/>
          <a:p>
            <a:pPr algn="l">
              <a:spcAft>
                <a:spcPts val="600"/>
              </a:spcAft>
            </a:pPr>
            <a:r>
              <a:rPr sz="1500" b="0" i="0">
                <a:solidFill>
                  <a:srgbClr val="5B6670"/>
                </a:solidFill>
                <a:latin typeface="Calibri"/>
              </a:rPr>
              <a:t>Toutes les méthodes passent par la même interface et les mêmes tests (183) : seul l'algorithme change.</a:t>
            </a:r>
          </a:p>
        </p:txBody>
      </p:sp>
      <p:sp>
        <p:nvSpPr>
          <p:cNvPr id="30" name="TextBox 29"/>
          <p:cNvSpPr txBox="1"/>
          <p:nvPr/>
        </p:nvSpPr>
        <p:spPr>
          <a:xfrm>
            <a:off x="10728655" y="6446520"/>
            <a:ext cx="914400" cy="274320"/>
          </a:xfrm>
          <a:prstGeom prst="rect">
            <a:avLst/>
          </a:prstGeom>
          <a:noFill/>
        </p:spPr>
        <p:txBody>
          <a:bodyPr wrap="square" lIns="0" rIns="0" tIns="0" bIns="0" anchor="t">
            <a:spAutoFit/>
          </a:bodyPr>
          <a:lstStyle/>
          <a:p>
            <a:pPr algn="r">
              <a:spcAft>
                <a:spcPts val="600"/>
              </a:spcAft>
            </a:pPr>
            <a:r>
              <a:rPr sz="1100" b="0" i="0">
                <a:solidFill>
                  <a:srgbClr val="5B667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spcAft>
                <a:spcPts val="600"/>
              </a:spcAft>
            </a:pPr>
            <a:r>
              <a:rPr sz="1200" b="1" i="0">
                <a:solidFill>
                  <a:srgbClr val="5B6670"/>
                </a:solidFill>
                <a:latin typeface="Calibri"/>
              </a:rPr>
              <a:t>Q-TABLE CENTRALISÉE</a:t>
            </a:r>
          </a:p>
        </p:txBody>
      </p:sp>
      <p:sp>
        <p:nvSpPr>
          <p:cNvPr id="3" name="Titre"/>
          <p:cNvSpPr txBox="1"/>
          <p:nvPr/>
        </p:nvSpPr>
        <p:spPr>
          <a:xfrm>
            <a:off x="548640" y="640080"/>
            <a:ext cx="11094415" cy="731520"/>
          </a:xfrm>
          <a:prstGeom prst="rect">
            <a:avLst/>
          </a:prstGeom>
          <a:noFill/>
        </p:spPr>
        <p:txBody>
          <a:bodyPr wrap="square" lIns="0" rIns="0" tIns="0" bIns="0" anchor="t">
            <a:spAutoFit/>
          </a:bodyPr>
          <a:lstStyle/>
          <a:p>
            <a:pPr algn="l">
              <a:spcAft>
                <a:spcPts val="600"/>
              </a:spcAft>
            </a:pPr>
            <a:r>
              <a:rPr sz="3000" b="1" i="0">
                <a:solidFill>
                  <a:srgbClr val="1D2731"/>
                </a:solidFill>
                <a:latin typeface="Calibri"/>
              </a:rPr>
              <a:t>Q-table centralisée : la taille explose avec la flotte</a:t>
            </a:r>
          </a:p>
        </p:txBody>
      </p:sp>
      <p:pic>
        <p:nvPicPr>
          <p:cNvPr id="4" name="Picture 3" descr="states.png"/>
          <p:cNvPicPr>
            <a:picLocks noChangeAspect="1"/>
          </p:cNvPicPr>
          <p:nvPr/>
        </p:nvPicPr>
        <p:blipFill>
          <a:blip r:embed="rId3"/>
          <a:stretch>
            <a:fillRect/>
          </a:stretch>
        </p:blipFill>
        <p:spPr>
          <a:xfrm>
            <a:off x="548640" y="1600200"/>
            <a:ext cx="6766560" cy="3492418"/>
          </a:xfrm>
          <a:prstGeom prst="rect">
            <a:avLst/>
          </a:prstGeom>
        </p:spPr>
      </p:pic>
      <p:sp>
        <p:nvSpPr>
          <p:cNvPr id="5" name="TextBox 4"/>
          <p:cNvSpPr txBox="1"/>
          <p:nvPr/>
        </p:nvSpPr>
        <p:spPr>
          <a:xfrm>
            <a:off x="7818120" y="1691640"/>
            <a:ext cx="3840480" cy="365760"/>
          </a:xfrm>
          <a:prstGeom prst="rect">
            <a:avLst/>
          </a:prstGeom>
          <a:noFill/>
        </p:spPr>
        <p:txBody>
          <a:bodyPr wrap="square" lIns="0" rIns="0" tIns="0" bIns="0" anchor="t">
            <a:spAutoFit/>
          </a:bodyPr>
          <a:lstStyle/>
          <a:p>
            <a:pPr algn="l">
              <a:spcAft>
                <a:spcPts val="600"/>
              </a:spcAft>
            </a:pPr>
            <a:r>
              <a:rPr sz="1400" b="1" i="0">
                <a:solidFill>
                  <a:srgbClr val="1D2731"/>
                </a:solidFill>
                <a:latin typeface="Calibri"/>
              </a:rPr>
              <a:t>actions jointes  </a:t>
            </a:r>
            <a:r>
              <a:rPr sz="1400" b="0" i="0">
                <a:solidFill>
                  <a:srgbClr val="5B6670"/>
                </a:solidFill>
                <a:latin typeface="Calibri"/>
              </a:rPr>
              <a:t>·  états théoriques</a:t>
            </a:r>
          </a:p>
        </p:txBody>
      </p:sp>
      <p:sp>
        <p:nvSpPr>
          <p:cNvPr id="6" name="Rounded Rectangle 5"/>
          <p:cNvSpPr/>
          <p:nvPr/>
        </p:nvSpPr>
        <p:spPr>
          <a:xfrm>
            <a:off x="7818120" y="2240280"/>
            <a:ext cx="3840480" cy="77724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2441448"/>
            <a:ext cx="1188720" cy="36576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2 robots</a:t>
            </a:r>
          </a:p>
        </p:txBody>
      </p:sp>
      <p:sp>
        <p:nvSpPr>
          <p:cNvPr id="8" name="TextBox 7"/>
          <p:cNvSpPr txBox="1"/>
          <p:nvPr/>
        </p:nvSpPr>
        <p:spPr>
          <a:xfrm>
            <a:off x="9189720" y="2350008"/>
            <a:ext cx="1097280" cy="548640"/>
          </a:xfrm>
          <a:prstGeom prst="rect">
            <a:avLst/>
          </a:prstGeom>
          <a:noFill/>
        </p:spPr>
        <p:txBody>
          <a:bodyPr wrap="square" lIns="0" rIns="0" tIns="0" bIns="0" anchor="t">
            <a:spAutoFit/>
          </a:bodyPr>
          <a:lstStyle/>
          <a:p>
            <a:pPr algn="l">
              <a:spcAft>
                <a:spcPts val="600"/>
              </a:spcAft>
            </a:pPr>
            <a:r>
              <a:rPr sz="2400" b="1" i="0">
                <a:solidFill>
                  <a:srgbClr val="1D2731"/>
                </a:solidFill>
                <a:latin typeface="Calibri"/>
              </a:rPr>
              <a:t>36</a:t>
            </a:r>
          </a:p>
        </p:txBody>
      </p:sp>
      <p:sp>
        <p:nvSpPr>
          <p:cNvPr id="9" name="TextBox 8"/>
          <p:cNvSpPr txBox="1"/>
          <p:nvPr/>
        </p:nvSpPr>
        <p:spPr>
          <a:xfrm>
            <a:off x="10287000" y="2423160"/>
            <a:ext cx="1325880" cy="457200"/>
          </a:xfrm>
          <a:prstGeom prst="rect">
            <a:avLst/>
          </a:prstGeom>
          <a:noFill/>
        </p:spPr>
        <p:txBody>
          <a:bodyPr wrap="square" lIns="0" rIns="0" tIns="0" bIns="0" anchor="t">
            <a:spAutoFit/>
          </a:bodyPr>
          <a:lstStyle/>
          <a:p>
            <a:pPr algn="l">
              <a:spcAft>
                <a:spcPts val="600"/>
              </a:spcAft>
            </a:pPr>
            <a:r>
              <a:rPr sz="1600" b="0" i="0">
                <a:solidFill>
                  <a:srgbClr val="5B6670"/>
                </a:solidFill>
                <a:latin typeface="Calibri"/>
              </a:rPr>
              <a:t>5,4·10⁶</a:t>
            </a:r>
          </a:p>
        </p:txBody>
      </p:sp>
      <p:sp>
        <p:nvSpPr>
          <p:cNvPr id="10" name="Rounded Rectangle 9"/>
          <p:cNvSpPr/>
          <p:nvPr/>
        </p:nvSpPr>
        <p:spPr>
          <a:xfrm>
            <a:off x="7818120" y="3200400"/>
            <a:ext cx="3840480" cy="77724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3401568"/>
            <a:ext cx="1188720" cy="36576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3 robots</a:t>
            </a:r>
          </a:p>
        </p:txBody>
      </p:sp>
      <p:sp>
        <p:nvSpPr>
          <p:cNvPr id="12" name="TextBox 11"/>
          <p:cNvSpPr txBox="1"/>
          <p:nvPr/>
        </p:nvSpPr>
        <p:spPr>
          <a:xfrm>
            <a:off x="9189720" y="3310128"/>
            <a:ext cx="1097280" cy="548640"/>
          </a:xfrm>
          <a:prstGeom prst="rect">
            <a:avLst/>
          </a:prstGeom>
          <a:noFill/>
        </p:spPr>
        <p:txBody>
          <a:bodyPr wrap="square" lIns="0" rIns="0" tIns="0" bIns="0" anchor="t">
            <a:spAutoFit/>
          </a:bodyPr>
          <a:lstStyle/>
          <a:p>
            <a:pPr algn="l">
              <a:spcAft>
                <a:spcPts val="600"/>
              </a:spcAft>
            </a:pPr>
            <a:r>
              <a:rPr sz="2400" b="1" i="0">
                <a:solidFill>
                  <a:srgbClr val="1D2731"/>
                </a:solidFill>
                <a:latin typeface="Calibri"/>
              </a:rPr>
              <a:t>216</a:t>
            </a:r>
          </a:p>
        </p:txBody>
      </p:sp>
      <p:sp>
        <p:nvSpPr>
          <p:cNvPr id="13" name="TextBox 12"/>
          <p:cNvSpPr txBox="1"/>
          <p:nvPr/>
        </p:nvSpPr>
        <p:spPr>
          <a:xfrm>
            <a:off x="10287000" y="3383280"/>
            <a:ext cx="1325880" cy="457200"/>
          </a:xfrm>
          <a:prstGeom prst="rect">
            <a:avLst/>
          </a:prstGeom>
          <a:noFill/>
        </p:spPr>
        <p:txBody>
          <a:bodyPr wrap="square" lIns="0" rIns="0" tIns="0" bIns="0" anchor="t">
            <a:spAutoFit/>
          </a:bodyPr>
          <a:lstStyle/>
          <a:p>
            <a:pPr algn="l">
              <a:spcAft>
                <a:spcPts val="600"/>
              </a:spcAft>
            </a:pPr>
            <a:r>
              <a:rPr sz="1600" b="0" i="0">
                <a:solidFill>
                  <a:srgbClr val="5B6670"/>
                </a:solidFill>
                <a:latin typeface="Calibri"/>
              </a:rPr>
              <a:t>1,2·10¹⁰</a:t>
            </a:r>
          </a:p>
        </p:txBody>
      </p:sp>
      <p:sp>
        <p:nvSpPr>
          <p:cNvPr id="14" name="Rounded Rectangle 13"/>
          <p:cNvSpPr/>
          <p:nvPr/>
        </p:nvSpPr>
        <p:spPr>
          <a:xfrm>
            <a:off x="7818120" y="4160520"/>
            <a:ext cx="3840480" cy="77724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4361688"/>
            <a:ext cx="1188720" cy="36576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4 robots</a:t>
            </a:r>
          </a:p>
        </p:txBody>
      </p:sp>
      <p:sp>
        <p:nvSpPr>
          <p:cNvPr id="16" name="TextBox 15"/>
          <p:cNvSpPr txBox="1"/>
          <p:nvPr/>
        </p:nvSpPr>
        <p:spPr>
          <a:xfrm>
            <a:off x="9189720" y="4270248"/>
            <a:ext cx="1097280" cy="548640"/>
          </a:xfrm>
          <a:prstGeom prst="rect">
            <a:avLst/>
          </a:prstGeom>
          <a:noFill/>
        </p:spPr>
        <p:txBody>
          <a:bodyPr wrap="square" lIns="0" rIns="0" tIns="0" bIns="0" anchor="t">
            <a:spAutoFit/>
          </a:bodyPr>
          <a:lstStyle/>
          <a:p>
            <a:pPr algn="l">
              <a:spcAft>
                <a:spcPts val="600"/>
              </a:spcAft>
            </a:pPr>
            <a:r>
              <a:rPr sz="2400" b="1" i="0">
                <a:solidFill>
                  <a:srgbClr val="1D2731"/>
                </a:solidFill>
                <a:latin typeface="Calibri"/>
              </a:rPr>
              <a:t>1 296</a:t>
            </a:r>
          </a:p>
        </p:txBody>
      </p:sp>
      <p:sp>
        <p:nvSpPr>
          <p:cNvPr id="17" name="TextBox 16"/>
          <p:cNvSpPr txBox="1"/>
          <p:nvPr/>
        </p:nvSpPr>
        <p:spPr>
          <a:xfrm>
            <a:off x="10287000" y="4343400"/>
            <a:ext cx="1325880" cy="457200"/>
          </a:xfrm>
          <a:prstGeom prst="rect">
            <a:avLst/>
          </a:prstGeom>
          <a:noFill/>
        </p:spPr>
        <p:txBody>
          <a:bodyPr wrap="square" lIns="0" rIns="0" tIns="0" bIns="0" anchor="t">
            <a:spAutoFit/>
          </a:bodyPr>
          <a:lstStyle/>
          <a:p>
            <a:pPr algn="l">
              <a:spcAft>
                <a:spcPts val="600"/>
              </a:spcAft>
            </a:pPr>
            <a:r>
              <a:rPr sz="1600" b="0" i="0">
                <a:solidFill>
                  <a:srgbClr val="5B6670"/>
                </a:solidFill>
                <a:latin typeface="Calibri"/>
              </a:rPr>
              <a:t>2,9·10¹³</a:t>
            </a:r>
          </a:p>
        </p:txBody>
      </p:sp>
      <p:sp>
        <p:nvSpPr>
          <p:cNvPr id="18" name="TextBox 17"/>
          <p:cNvSpPr txBox="1"/>
          <p:nvPr/>
        </p:nvSpPr>
        <p:spPr>
          <a:xfrm>
            <a:off x="7818120" y="5257800"/>
            <a:ext cx="3840480" cy="914400"/>
          </a:xfrm>
          <a:prstGeom prst="rect">
            <a:avLst/>
          </a:prstGeom>
          <a:noFill/>
        </p:spPr>
        <p:txBody>
          <a:bodyPr wrap="square" lIns="0" rIns="0" tIns="0" bIns="0" anchor="t">
            <a:spAutoFit/>
          </a:bodyPr>
          <a:lstStyle/>
          <a:p>
            <a:pPr algn="l">
              <a:spcAft>
                <a:spcPts val="600"/>
              </a:spcAft>
            </a:pPr>
            <a:r>
              <a:rPr sz="1600" b="1" i="0">
                <a:solidFill>
                  <a:srgbClr val="1D2731"/>
                </a:solidFill>
                <a:latin typeface="Calibri"/>
              </a:rPr>
              <a:t>6ⁿ actions × (34·4·17)ⁿ états : la mémoire sature avant l'apprentissage.</a:t>
            </a:r>
          </a:p>
        </p:txBody>
      </p:sp>
      <p:sp>
        <p:nvSpPr>
          <p:cNvPr id="19" name="TextBox 18"/>
          <p:cNvSpPr txBox="1"/>
          <p:nvPr/>
        </p:nvSpPr>
        <p:spPr>
          <a:xfrm>
            <a:off x="10728655" y="6446520"/>
            <a:ext cx="914400" cy="274320"/>
          </a:xfrm>
          <a:prstGeom prst="rect">
            <a:avLst/>
          </a:prstGeom>
          <a:noFill/>
        </p:spPr>
        <p:txBody>
          <a:bodyPr wrap="square" lIns="0" rIns="0" tIns="0" bIns="0" anchor="t">
            <a:spAutoFit/>
          </a:bodyPr>
          <a:lstStyle/>
          <a:p>
            <a:pPr algn="r">
              <a:spcAft>
                <a:spcPts val="600"/>
              </a:spcAft>
            </a:pPr>
            <a:r>
              <a:rPr sz="1100" b="0" i="0">
                <a:solidFill>
                  <a:srgbClr val="5B667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spcAft>
                <a:spcPts val="600"/>
              </a:spcAft>
            </a:pPr>
            <a:r>
              <a:rPr sz="1200" b="1" i="0">
                <a:solidFill>
                  <a:srgbClr val="5B6670"/>
                </a:solidFill>
                <a:latin typeface="Calibri"/>
              </a:rPr>
              <a:t>Q-TABLE CENTRALISÉE</a:t>
            </a:r>
          </a:p>
        </p:txBody>
      </p:sp>
      <p:sp>
        <p:nvSpPr>
          <p:cNvPr id="3" name="Titre"/>
          <p:cNvSpPr txBox="1"/>
          <p:nvPr/>
        </p:nvSpPr>
        <p:spPr>
          <a:xfrm>
            <a:off x="548640" y="640080"/>
            <a:ext cx="11094415" cy="731520"/>
          </a:xfrm>
          <a:prstGeom prst="rect">
            <a:avLst/>
          </a:prstGeom>
          <a:noFill/>
        </p:spPr>
        <p:txBody>
          <a:bodyPr wrap="square" lIns="0" rIns="0" tIns="0" bIns="0" anchor="t">
            <a:spAutoFit/>
          </a:bodyPr>
          <a:lstStyle/>
          <a:p>
            <a:pPr algn="l">
              <a:spcAft>
                <a:spcPts val="600"/>
              </a:spcAft>
            </a:pPr>
            <a:r>
              <a:rPr sz="3000" b="1" i="0">
                <a:solidFill>
                  <a:srgbClr val="1D2731"/>
                </a:solidFill>
                <a:latin typeface="Calibri"/>
              </a:rPr>
              <a:t>À 3 robots, la table est pleine en un million de pas</a:t>
            </a:r>
          </a:p>
        </p:txBody>
      </p:sp>
      <p:pic>
        <p:nvPicPr>
          <p:cNvPr id="4" name="Picture 3" descr="q_curves.png"/>
          <p:cNvPicPr>
            <a:picLocks noChangeAspect="1"/>
          </p:cNvPicPr>
          <p:nvPr/>
        </p:nvPicPr>
        <p:blipFill>
          <a:blip r:embed="rId3"/>
          <a:stretch>
            <a:fillRect/>
          </a:stretch>
        </p:blipFill>
        <p:spPr>
          <a:xfrm>
            <a:off x="548640" y="1554480"/>
            <a:ext cx="7589520" cy="3095725"/>
          </a:xfrm>
          <a:prstGeom prst="rect">
            <a:avLst/>
          </a:prstGeom>
        </p:spPr>
      </p:pic>
      <p:sp>
        <p:nvSpPr>
          <p:cNvPr id="5" name="TextBox 4"/>
          <p:cNvSpPr txBox="1"/>
          <p:nvPr/>
        </p:nvSpPr>
        <p:spPr>
          <a:xfrm>
            <a:off x="8458200" y="1783080"/>
            <a:ext cx="3200400" cy="4206240"/>
          </a:xfrm>
          <a:prstGeom prst="rect">
            <a:avLst/>
          </a:prstGeom>
          <a:noFill/>
        </p:spPr>
        <p:txBody>
          <a:bodyPr wrap="square" lIns="0" rIns="0" tIns="0" bIns="0" anchor="t">
            <a:spAutoFit/>
          </a:bodyPr>
          <a:lstStyle/>
          <a:p>
            <a:pPr algn="l">
              <a:spcAft>
                <a:spcPts val="800"/>
              </a:spcAft>
            </a:pPr>
            <a:r>
              <a:rPr sz="1600" b="0" i="0">
                <a:solidFill>
                  <a:srgbClr val="1D2731"/>
                </a:solidFill>
                <a:latin typeface="Calibri"/>
              </a:rPr>
              <a:t/>
            </a:r>
            <a:r>
              <a:rPr sz="1600">
                <a:solidFill>
                  <a:srgbClr val="F2A900"/>
                </a:solidFill>
                <a:latin typeface="Calibri"/>
              </a:rPr>
              <a:t>▪  </a:t>
            </a:r>
            <a:r>
              <a:rPr sz="1600" b="1">
                <a:solidFill>
                  <a:srgbClr val="1D2731"/>
                </a:solidFill>
                <a:latin typeface="Calibri"/>
              </a:rPr>
              <a:t>2 robots : </a:t>
            </a:r>
            <a:r>
              <a:rPr sz="1600" b="0">
                <a:solidFill>
                  <a:srgbClr val="1D2731"/>
                </a:solidFill>
                <a:latin typeface="Calibri"/>
              </a:rPr>
              <a:t>1,2 livraison/épisode après 57 M de pas</a:t>
            </a:r>
          </a:p>
          <a:p>
            <a:pPr>
              <a:spcAft>
                <a:spcPts val="800"/>
              </a:spcAft>
            </a:pPr>
            <a:r>
              <a:rPr sz="1600">
                <a:solidFill>
                  <a:srgbClr val="F2A900"/>
                </a:solidFill>
                <a:latin typeface="Calibri"/>
              </a:rPr>
              <a:t>▪  </a:t>
            </a:r>
            <a:r>
              <a:rPr sz="1600" b="1">
                <a:solidFill>
                  <a:srgbClr val="1D2731"/>
                </a:solidFill>
                <a:latin typeface="Calibri"/>
              </a:rPr>
              <a:t>3–4 robots : </a:t>
            </a:r>
            <a:r>
              <a:rPr sz="1600" b="0">
                <a:solidFill>
                  <a:srgbClr val="1D2731"/>
                </a:solidFill>
                <a:latin typeface="Calibri"/>
              </a:rPr>
              <a:t>plafond 600 Mo atteint, 98–99,6 % des mises à jour rejetées</a:t>
            </a:r>
          </a:p>
          <a:p>
            <a:pPr>
              <a:spcAft>
                <a:spcPts val="800"/>
              </a:spcAft>
            </a:pPr>
            <a:r>
              <a:rPr sz="1600">
                <a:solidFill>
                  <a:srgbClr val="F2A900"/>
                </a:solidFill>
                <a:latin typeface="Calibri"/>
              </a:rPr>
              <a:t>▪  </a:t>
            </a:r>
            <a:r>
              <a:rPr sz="1600" b="1">
                <a:solidFill>
                  <a:srgbClr val="1D2731"/>
                </a:solidFill>
                <a:latin typeface="Calibri"/>
              </a:rPr>
              <a:t>En évaluation : </a:t>
            </a:r>
            <a:r>
              <a:rPr sz="1600" b="0">
                <a:solidFill>
                  <a:srgbClr val="1D2731"/>
                </a:solidFill>
                <a:latin typeface="Calibri"/>
              </a:rPr>
              <a:t>99,5–100 % des états jamais vus</a:t>
            </a:r>
          </a:p>
        </p:txBody>
      </p:sp>
      <p:sp>
        <p:nvSpPr>
          <p:cNvPr id="6" name="TextBox 5"/>
          <p:cNvSpPr txBox="1"/>
          <p:nvPr/>
        </p:nvSpPr>
        <p:spPr>
          <a:xfrm>
            <a:off x="10728655" y="6446520"/>
            <a:ext cx="914400" cy="274320"/>
          </a:xfrm>
          <a:prstGeom prst="rect">
            <a:avLst/>
          </a:prstGeom>
          <a:noFill/>
        </p:spPr>
        <p:txBody>
          <a:bodyPr wrap="square" lIns="0" rIns="0" tIns="0" bIns="0" anchor="t">
            <a:spAutoFit/>
          </a:bodyPr>
          <a:lstStyle/>
          <a:p>
            <a:pPr algn="r">
              <a:spcAft>
                <a:spcPts val="600"/>
              </a:spcAft>
            </a:pPr>
            <a:r>
              <a:rPr sz="1100" b="0" i="0">
                <a:solidFill>
                  <a:srgbClr val="5B667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spcAft>
                <a:spcPts val="600"/>
              </a:spcAft>
            </a:pPr>
            <a:r>
              <a:rPr sz="1200" b="1" i="0">
                <a:solidFill>
                  <a:srgbClr val="5B6670"/>
                </a:solidFill>
                <a:latin typeface="Calibri"/>
              </a:rPr>
              <a:t>APPRENANTS INDÉPENDANTS</a:t>
            </a:r>
          </a:p>
        </p:txBody>
      </p:sp>
      <p:sp>
        <p:nvSpPr>
          <p:cNvPr id="3" name="Titre"/>
          <p:cNvSpPr txBox="1"/>
          <p:nvPr/>
        </p:nvSpPr>
        <p:spPr>
          <a:xfrm>
            <a:off x="548640" y="640080"/>
            <a:ext cx="11094415" cy="731520"/>
          </a:xfrm>
          <a:prstGeom prst="rect">
            <a:avLst/>
          </a:prstGeom>
          <a:noFill/>
        </p:spPr>
        <p:txBody>
          <a:bodyPr wrap="square" lIns="0" rIns="0" tIns="0" bIns="0" anchor="t">
            <a:spAutoFit/>
          </a:bodyPr>
          <a:lstStyle/>
          <a:p>
            <a:pPr algn="l">
              <a:spcAft>
                <a:spcPts val="600"/>
              </a:spcAft>
            </a:pPr>
            <a:r>
              <a:rPr sz="3000" b="1" i="0">
                <a:solidFill>
                  <a:srgbClr val="1D2731"/>
                </a:solidFill>
                <a:latin typeface="Calibri"/>
              </a:rPr>
              <a:t>Q-learning indépendant : un cerveau par robot</a:t>
            </a:r>
          </a:p>
        </p:txBody>
      </p:sp>
      <p:sp>
        <p:nvSpPr>
          <p:cNvPr id="4" name="Rounded Rectangle 3"/>
          <p:cNvSpPr/>
          <p:nvPr/>
        </p:nvSpPr>
        <p:spPr>
          <a:xfrm>
            <a:off x="548640" y="1737360"/>
            <a:ext cx="11094415" cy="420624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291840"/>
            <a:ext cx="10180015" cy="1097280"/>
          </a:xfrm>
          <a:prstGeom prst="rect">
            <a:avLst/>
          </a:prstGeom>
          <a:noFill/>
        </p:spPr>
        <p:txBody>
          <a:bodyPr wrap="square" lIns="0" rIns="0" tIns="0" bIns="0" anchor="t">
            <a:spAutoFit/>
          </a:bodyPr>
          <a:lstStyle/>
          <a:p>
            <a:pPr algn="ctr">
              <a:spcAft>
                <a:spcPts val="600"/>
              </a:spcAft>
            </a:pPr>
            <a:r>
              <a:rPr sz="2000" b="0" i="0">
                <a:solidFill>
                  <a:srgbClr val="5B6670"/>
                </a:solidFill>
                <a:latin typeface="Calibri"/>
              </a:rPr>
              <a:t>À compléter (Loïc et Juliette) : état, mise à jour, non-stationnarité, résultats</a:t>
            </a:r>
          </a:p>
        </p:txBody>
      </p:sp>
      <p:sp>
        <p:nvSpPr>
          <p:cNvPr id="6" name="TextBox 5"/>
          <p:cNvSpPr txBox="1"/>
          <p:nvPr/>
        </p:nvSpPr>
        <p:spPr>
          <a:xfrm>
            <a:off x="10728655" y="6446520"/>
            <a:ext cx="914400" cy="274320"/>
          </a:xfrm>
          <a:prstGeom prst="rect">
            <a:avLst/>
          </a:prstGeom>
          <a:noFill/>
        </p:spPr>
        <p:txBody>
          <a:bodyPr wrap="square" lIns="0" rIns="0" tIns="0" bIns="0" anchor="t">
            <a:spAutoFit/>
          </a:bodyPr>
          <a:lstStyle/>
          <a:p>
            <a:pPr algn="r">
              <a:spcAft>
                <a:spcPts val="600"/>
              </a:spcAft>
            </a:pPr>
            <a:r>
              <a:rPr sz="1100" b="0" i="0">
                <a:solidFill>
                  <a:srgbClr val="5B667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spcAft>
                <a:spcPts val="600"/>
              </a:spcAft>
            </a:pPr>
            <a:r>
              <a:rPr sz="1200" b="1" i="0">
                <a:solidFill>
                  <a:srgbClr val="5B6670"/>
                </a:solidFill>
                <a:latin typeface="Calibri"/>
              </a:rPr>
              <a:t>PPO CENTRALISÉ</a:t>
            </a:r>
          </a:p>
        </p:txBody>
      </p:sp>
      <p:sp>
        <p:nvSpPr>
          <p:cNvPr id="3" name="Titre"/>
          <p:cNvSpPr txBox="1"/>
          <p:nvPr/>
        </p:nvSpPr>
        <p:spPr>
          <a:xfrm>
            <a:off x="548640" y="640080"/>
            <a:ext cx="11094415" cy="731520"/>
          </a:xfrm>
          <a:prstGeom prst="rect">
            <a:avLst/>
          </a:prstGeom>
          <a:noFill/>
        </p:spPr>
        <p:txBody>
          <a:bodyPr wrap="square" lIns="0" rIns="0" tIns="0" bIns="0" anchor="t">
            <a:spAutoFit/>
          </a:bodyPr>
          <a:lstStyle/>
          <a:p>
            <a:pPr algn="l">
              <a:spcAft>
                <a:spcPts val="600"/>
              </a:spcAft>
            </a:pPr>
            <a:r>
              <a:rPr sz="3000" b="1" i="0">
                <a:solidFill>
                  <a:srgbClr val="1D2731"/>
                </a:solidFill>
                <a:latin typeface="Calibri"/>
              </a:rPr>
              <a:t>PPO : quatre choix mesurés font la différence</a:t>
            </a:r>
          </a:p>
        </p:txBody>
      </p:sp>
      <p:sp>
        <p:nvSpPr>
          <p:cNvPr id="4" name="Rounded Rectangle 3"/>
          <p:cNvSpPr/>
          <p:nvPr/>
        </p:nvSpPr>
        <p:spPr>
          <a:xfrm>
            <a:off x="548640" y="1691640"/>
            <a:ext cx="5387187" cy="137160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74520"/>
            <a:ext cx="2514600" cy="365760"/>
          </a:xfrm>
          <a:prstGeom prst="rect">
            <a:avLst/>
          </a:prstGeom>
          <a:noFill/>
        </p:spPr>
        <p:txBody>
          <a:bodyPr wrap="square" lIns="0" rIns="0" tIns="0" bIns="0" anchor="t">
            <a:spAutoFit/>
          </a:bodyPr>
          <a:lstStyle/>
          <a:p>
            <a:pPr algn="l">
              <a:spcAft>
                <a:spcPts val="600"/>
              </a:spcAft>
            </a:pPr>
            <a:r>
              <a:rPr sz="1800" b="1" i="0">
                <a:solidFill>
                  <a:srgbClr val="1D2731"/>
                </a:solidFill>
                <a:latin typeface="Calibri"/>
              </a:rPr>
              <a:t>Masquer les actions</a:t>
            </a:r>
          </a:p>
        </p:txBody>
      </p:sp>
      <p:sp>
        <p:nvSpPr>
          <p:cNvPr id="6" name="TextBox 5"/>
          <p:cNvSpPr txBox="1"/>
          <p:nvPr/>
        </p:nvSpPr>
        <p:spPr>
          <a:xfrm>
            <a:off x="868680" y="2331720"/>
            <a:ext cx="2514600" cy="64008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actions invalides par épisode</a:t>
            </a:r>
          </a:p>
        </p:txBody>
      </p:sp>
      <p:sp>
        <p:nvSpPr>
          <p:cNvPr id="7" name="TextBox 6"/>
          <p:cNvSpPr txBox="1"/>
          <p:nvPr/>
        </p:nvSpPr>
        <p:spPr>
          <a:xfrm>
            <a:off x="3383280" y="2011680"/>
            <a:ext cx="2278227" cy="822960"/>
          </a:xfrm>
          <a:prstGeom prst="rect">
            <a:avLst/>
          </a:prstGeom>
          <a:noFill/>
        </p:spPr>
        <p:txBody>
          <a:bodyPr wrap="square" lIns="0" rIns="0" tIns="0" bIns="0" anchor="t">
            <a:spAutoFit/>
          </a:bodyPr>
          <a:lstStyle/>
          <a:p>
            <a:pPr algn="r">
              <a:spcAft>
                <a:spcPts val="600"/>
              </a:spcAft>
            </a:pPr>
            <a:r>
              <a:rPr sz="2600" b="1" i="0">
                <a:solidFill>
                  <a:srgbClr val="1BAF7A"/>
                </a:solidFill>
                <a:latin typeface="Calibri"/>
              </a:rPr>
              <a:t>1128 → 0</a:t>
            </a:r>
          </a:p>
        </p:txBody>
      </p:sp>
      <p:sp>
        <p:nvSpPr>
          <p:cNvPr id="8" name="Rounded Rectangle 7"/>
          <p:cNvSpPr/>
          <p:nvPr/>
        </p:nvSpPr>
        <p:spPr>
          <a:xfrm>
            <a:off x="6255867" y="1691640"/>
            <a:ext cx="5387187" cy="137160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75907" y="1874520"/>
            <a:ext cx="2514600" cy="365760"/>
          </a:xfrm>
          <a:prstGeom prst="rect">
            <a:avLst/>
          </a:prstGeom>
          <a:noFill/>
        </p:spPr>
        <p:txBody>
          <a:bodyPr wrap="square" lIns="0" rIns="0" tIns="0" bIns="0" anchor="t">
            <a:spAutoFit/>
          </a:bodyPr>
          <a:lstStyle/>
          <a:p>
            <a:pPr algn="l">
              <a:spcAft>
                <a:spcPts val="600"/>
              </a:spcAft>
            </a:pPr>
            <a:r>
              <a:rPr sz="1800" b="1" i="0">
                <a:solidFill>
                  <a:srgbClr val="1D2731"/>
                </a:solidFill>
                <a:latin typeface="Calibri"/>
              </a:rPr>
              <a:t>Distances BFS</a:t>
            </a:r>
          </a:p>
        </p:txBody>
      </p:sp>
      <p:sp>
        <p:nvSpPr>
          <p:cNvPr id="10" name="TextBox 9"/>
          <p:cNvSpPr txBox="1"/>
          <p:nvPr/>
        </p:nvSpPr>
        <p:spPr>
          <a:xfrm>
            <a:off x="6575907" y="2331720"/>
            <a:ext cx="2514600" cy="64008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dimensions d'entrée, et la carte n'entre plus dans le réseau</a:t>
            </a:r>
          </a:p>
        </p:txBody>
      </p:sp>
      <p:sp>
        <p:nvSpPr>
          <p:cNvPr id="11" name="TextBox 10"/>
          <p:cNvSpPr txBox="1"/>
          <p:nvPr/>
        </p:nvSpPr>
        <p:spPr>
          <a:xfrm>
            <a:off x="9090507" y="2011680"/>
            <a:ext cx="2278227" cy="822960"/>
          </a:xfrm>
          <a:prstGeom prst="rect">
            <a:avLst/>
          </a:prstGeom>
          <a:noFill/>
        </p:spPr>
        <p:txBody>
          <a:bodyPr wrap="square" lIns="0" rIns="0" tIns="0" bIns="0" anchor="t">
            <a:spAutoFit/>
          </a:bodyPr>
          <a:lstStyle/>
          <a:p>
            <a:pPr algn="r">
              <a:spcAft>
                <a:spcPts val="600"/>
              </a:spcAft>
            </a:pPr>
            <a:r>
              <a:rPr sz="2600" b="1" i="0">
                <a:solidFill>
                  <a:srgbClr val="1BAF7A"/>
                </a:solidFill>
                <a:latin typeface="Calibri"/>
              </a:rPr>
              <a:t>882 → 5</a:t>
            </a:r>
          </a:p>
        </p:txBody>
      </p:sp>
      <p:sp>
        <p:nvSpPr>
          <p:cNvPr id="12" name="Rounded Rectangle 11"/>
          <p:cNvSpPr/>
          <p:nvPr/>
        </p:nvSpPr>
        <p:spPr>
          <a:xfrm>
            <a:off x="548640" y="3291840"/>
            <a:ext cx="5387187" cy="137160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474720"/>
            <a:ext cx="2514600" cy="365760"/>
          </a:xfrm>
          <a:prstGeom prst="rect">
            <a:avLst/>
          </a:prstGeom>
          <a:noFill/>
        </p:spPr>
        <p:txBody>
          <a:bodyPr wrap="square" lIns="0" rIns="0" tIns="0" bIns="0" anchor="t">
            <a:spAutoFit/>
          </a:bodyPr>
          <a:lstStyle/>
          <a:p>
            <a:pPr algn="l">
              <a:spcAft>
                <a:spcPts val="600"/>
              </a:spcAft>
            </a:pPr>
            <a:r>
              <a:rPr sz="1800" b="1" i="0">
                <a:solidFill>
                  <a:srgbClr val="1D2731"/>
                </a:solidFill>
                <a:latin typeface="Calibri"/>
              </a:rPr>
              <a:t>Signal de collision</a:t>
            </a:r>
          </a:p>
        </p:txBody>
      </p:sp>
      <p:sp>
        <p:nvSpPr>
          <p:cNvPr id="14" name="TextBox 13"/>
          <p:cNvSpPr txBox="1"/>
          <p:nvPr/>
        </p:nvSpPr>
        <p:spPr>
          <a:xfrm>
            <a:off x="868680" y="3931920"/>
            <a:ext cx="2514600" cy="64008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blocages par épisode</a:t>
            </a:r>
          </a:p>
        </p:txBody>
      </p:sp>
      <p:sp>
        <p:nvSpPr>
          <p:cNvPr id="15" name="TextBox 14"/>
          <p:cNvSpPr txBox="1"/>
          <p:nvPr/>
        </p:nvSpPr>
        <p:spPr>
          <a:xfrm>
            <a:off x="3383280" y="3611880"/>
            <a:ext cx="2278227" cy="822960"/>
          </a:xfrm>
          <a:prstGeom prst="rect">
            <a:avLst/>
          </a:prstGeom>
          <a:noFill/>
        </p:spPr>
        <p:txBody>
          <a:bodyPr wrap="square" lIns="0" rIns="0" tIns="0" bIns="0" anchor="t">
            <a:spAutoFit/>
          </a:bodyPr>
          <a:lstStyle/>
          <a:p>
            <a:pPr algn="r">
              <a:spcAft>
                <a:spcPts val="600"/>
              </a:spcAft>
            </a:pPr>
            <a:r>
              <a:rPr sz="2600" b="1" i="0">
                <a:solidFill>
                  <a:srgbClr val="1BAF7A"/>
                </a:solidFill>
                <a:latin typeface="Calibri"/>
              </a:rPr>
              <a:t>45,2 → 12,6</a:t>
            </a:r>
          </a:p>
        </p:txBody>
      </p:sp>
      <p:sp>
        <p:nvSpPr>
          <p:cNvPr id="16" name="Rounded Rectangle 15"/>
          <p:cNvSpPr/>
          <p:nvPr/>
        </p:nvSpPr>
        <p:spPr>
          <a:xfrm>
            <a:off x="6255867" y="3291840"/>
            <a:ext cx="5387187" cy="1371600"/>
          </a:xfrm>
          <a:prstGeom prst="roundRect">
            <a:avLst>
              <a:gd name="adj" fmla="val 6000"/>
            </a:avLst>
          </a:prstGeom>
          <a:solidFill>
            <a:srgbClr val="EE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75907" y="3474720"/>
            <a:ext cx="2514600" cy="365760"/>
          </a:xfrm>
          <a:prstGeom prst="rect">
            <a:avLst/>
          </a:prstGeom>
          <a:noFill/>
        </p:spPr>
        <p:txBody>
          <a:bodyPr wrap="square" lIns="0" rIns="0" tIns="0" bIns="0" anchor="t">
            <a:spAutoFit/>
          </a:bodyPr>
          <a:lstStyle/>
          <a:p>
            <a:pPr algn="l">
              <a:spcAft>
                <a:spcPts val="600"/>
              </a:spcAft>
            </a:pPr>
            <a:r>
              <a:rPr sz="1800" b="1" i="0">
                <a:solidFill>
                  <a:srgbClr val="1D2731"/>
                </a:solidFill>
                <a:latin typeface="Calibri"/>
              </a:rPr>
              <a:t>Échantillonner</a:t>
            </a:r>
          </a:p>
        </p:txBody>
      </p:sp>
      <p:sp>
        <p:nvSpPr>
          <p:cNvPr id="18" name="TextBox 17"/>
          <p:cNvSpPr txBox="1"/>
          <p:nvPr/>
        </p:nvSpPr>
        <p:spPr>
          <a:xfrm>
            <a:off x="6575907" y="3931920"/>
            <a:ext cx="2514600" cy="640080"/>
          </a:xfrm>
          <a:prstGeom prst="rect">
            <a:avLst/>
          </a:prstGeom>
          <a:noFill/>
        </p:spPr>
        <p:txBody>
          <a:bodyPr wrap="square" lIns="0" rIns="0" tIns="0" bIns="0" anchor="t">
            <a:spAutoFit/>
          </a:bodyPr>
          <a:lstStyle/>
          <a:p>
            <a:pPr algn="l">
              <a:spcAft>
                <a:spcPts val="600"/>
              </a:spcAft>
            </a:pPr>
            <a:r>
              <a:rPr sz="1400" b="0" i="0">
                <a:solidFill>
                  <a:srgbClr val="5B6670"/>
                </a:solidFill>
                <a:latin typeface="Calibri"/>
              </a:rPr>
              <a:t>blocages par interblocage miroir</a:t>
            </a:r>
          </a:p>
        </p:txBody>
      </p:sp>
      <p:sp>
        <p:nvSpPr>
          <p:cNvPr id="19" name="TextBox 18"/>
          <p:cNvSpPr txBox="1"/>
          <p:nvPr/>
        </p:nvSpPr>
        <p:spPr>
          <a:xfrm>
            <a:off x="9090507" y="3611880"/>
            <a:ext cx="2278227" cy="822960"/>
          </a:xfrm>
          <a:prstGeom prst="rect">
            <a:avLst/>
          </a:prstGeom>
          <a:noFill/>
        </p:spPr>
        <p:txBody>
          <a:bodyPr wrap="square" lIns="0" rIns="0" tIns="0" bIns="0" anchor="t">
            <a:spAutoFit/>
          </a:bodyPr>
          <a:lstStyle/>
          <a:p>
            <a:pPr algn="r">
              <a:spcAft>
                <a:spcPts val="600"/>
              </a:spcAft>
            </a:pPr>
            <a:r>
              <a:rPr sz="2600" b="1" i="0">
                <a:solidFill>
                  <a:srgbClr val="1BAF7A"/>
                </a:solidFill>
                <a:latin typeface="Calibri"/>
              </a:rPr>
              <a:t>211 → ≈ 0</a:t>
            </a:r>
          </a:p>
        </p:txBody>
      </p:sp>
      <p:sp>
        <p:nvSpPr>
          <p:cNvPr id="20" name="TextBox 19"/>
          <p:cNvSpPr txBox="1"/>
          <p:nvPr/>
        </p:nvSpPr>
        <p:spPr>
          <a:xfrm>
            <a:off x="548640" y="5074920"/>
            <a:ext cx="11094415" cy="1097280"/>
          </a:xfrm>
          <a:prstGeom prst="rect">
            <a:avLst/>
          </a:prstGeom>
          <a:noFill/>
        </p:spPr>
        <p:txBody>
          <a:bodyPr wrap="square" lIns="0" rIns="0" tIns="0" bIns="0" anchor="t">
            <a:spAutoFit/>
          </a:bodyPr>
          <a:lstStyle/>
          <a:p>
            <a:pPr algn="l">
              <a:spcAft>
                <a:spcPts val="600"/>
              </a:spcAft>
            </a:pPr>
            <a:r>
              <a:rPr sz="1500" b="1" i="0">
                <a:solidFill>
                  <a:srgbClr val="1D2731"/>
                </a:solidFill>
                <a:latin typeface="Calibri"/>
              </a:rPr>
              <a:t>Architecture : </a:t>
            </a:r>
            <a:r>
              <a:rPr sz="1500" b="0" i="0">
                <a:solidFill>
                  <a:srgbClr val="5B6670"/>
                </a:solidFill>
                <a:latin typeface="Calibri"/>
              </a:rPr>
              <a:t>un seul réseau lit toute la flotte ; pour chaque robot, un encodeur compare chaque paire (i, j), agrégée par max (« une menace ? ») et moyenne (« encombré ? »). On-policy, sans schedule.</a:t>
            </a:r>
          </a:p>
        </p:txBody>
      </p:sp>
      <p:sp>
        <p:nvSpPr>
          <p:cNvPr id="21" name="TextBox 20"/>
          <p:cNvSpPr txBox="1"/>
          <p:nvPr/>
        </p:nvSpPr>
        <p:spPr>
          <a:xfrm>
            <a:off x="10728655" y="6446520"/>
            <a:ext cx="914400" cy="274320"/>
          </a:xfrm>
          <a:prstGeom prst="rect">
            <a:avLst/>
          </a:prstGeom>
          <a:noFill/>
        </p:spPr>
        <p:txBody>
          <a:bodyPr wrap="square" lIns="0" rIns="0" tIns="0" bIns="0" anchor="t">
            <a:spAutoFit/>
          </a:bodyPr>
          <a:lstStyle/>
          <a:p>
            <a:pPr algn="r">
              <a:spcAft>
                <a:spcPts val="600"/>
              </a:spcAft>
            </a:pPr>
            <a:r>
              <a:rPr sz="1100" b="0" i="0">
                <a:solidFill>
                  <a:srgbClr val="5B667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spcAft>
                <a:spcPts val="600"/>
              </a:spcAft>
            </a:pPr>
            <a:r>
              <a:rPr sz="1200" b="1" i="0">
                <a:solidFill>
                  <a:srgbClr val="5B6670"/>
                </a:solidFill>
                <a:latin typeface="Calibri"/>
              </a:rPr>
              <a:t>RÉSULTATS</a:t>
            </a:r>
          </a:p>
        </p:txBody>
      </p:sp>
      <p:sp>
        <p:nvSpPr>
          <p:cNvPr id="3" name="Titre"/>
          <p:cNvSpPr txBox="1"/>
          <p:nvPr/>
        </p:nvSpPr>
        <p:spPr>
          <a:xfrm>
            <a:off x="548640" y="640080"/>
            <a:ext cx="11094415" cy="731520"/>
          </a:xfrm>
          <a:prstGeom prst="rect">
            <a:avLst/>
          </a:prstGeom>
          <a:noFill/>
        </p:spPr>
        <p:txBody>
          <a:bodyPr wrap="square" lIns="0" rIns="0" tIns="0" bIns="0" anchor="t">
            <a:spAutoFit/>
          </a:bodyPr>
          <a:lstStyle/>
          <a:p>
            <a:pPr algn="l">
              <a:spcAft>
                <a:spcPts val="600"/>
              </a:spcAft>
            </a:pPr>
            <a:r>
              <a:rPr sz="3000" b="1" i="0">
                <a:solidFill>
                  <a:srgbClr val="1D2731"/>
                </a:solidFill>
                <a:latin typeface="Calibri"/>
              </a:rPr>
              <a:t>PPO bat le glouton partout, la Q-table s'effondre</a:t>
            </a:r>
          </a:p>
        </p:txBody>
      </p:sp>
      <p:pic>
        <p:nvPicPr>
          <p:cNvPr id="4" name="Picture 3" descr="scaling.png"/>
          <p:cNvPicPr>
            <a:picLocks noChangeAspect="1"/>
          </p:cNvPicPr>
          <p:nvPr/>
        </p:nvPicPr>
        <p:blipFill>
          <a:blip r:embed="rId3"/>
          <a:stretch>
            <a:fillRect/>
          </a:stretch>
        </p:blipFill>
        <p:spPr>
          <a:xfrm>
            <a:off x="548640" y="1554480"/>
            <a:ext cx="7498079" cy="4111850"/>
          </a:xfrm>
          <a:prstGeom prst="rect">
            <a:avLst/>
          </a:prstGeom>
        </p:spPr>
      </p:pic>
      <p:sp>
        <p:nvSpPr>
          <p:cNvPr id="5" name="TextBox 4"/>
          <p:cNvSpPr txBox="1"/>
          <p:nvPr/>
        </p:nvSpPr>
        <p:spPr>
          <a:xfrm>
            <a:off x="8503920" y="1737360"/>
            <a:ext cx="3108960" cy="731520"/>
          </a:xfrm>
          <a:prstGeom prst="rect">
            <a:avLst/>
          </a:prstGeom>
          <a:noFill/>
        </p:spPr>
        <p:txBody>
          <a:bodyPr wrap="square" lIns="0" rIns="0" tIns="0" bIns="0" anchor="t">
            <a:spAutoFit/>
          </a:bodyPr>
          <a:lstStyle/>
          <a:p>
            <a:pPr algn="l">
              <a:spcAft>
                <a:spcPts val="600"/>
              </a:spcAft>
            </a:pPr>
            <a:r>
              <a:rPr sz="4000" b="1" i="0">
                <a:solidFill>
                  <a:srgbClr val="1BAF7A"/>
                </a:solidFill>
                <a:latin typeface="Calibri"/>
              </a:rPr>
              <a:t>+50 %</a:t>
            </a:r>
          </a:p>
        </p:txBody>
      </p:sp>
      <p:sp>
        <p:nvSpPr>
          <p:cNvPr id="6" name="TextBox 5"/>
          <p:cNvSpPr txBox="1"/>
          <p:nvPr/>
        </p:nvSpPr>
        <p:spPr>
          <a:xfrm>
            <a:off x="8503920" y="2468880"/>
            <a:ext cx="3108960" cy="457200"/>
          </a:xfrm>
          <a:prstGeom prst="rect">
            <a:avLst/>
          </a:prstGeom>
          <a:noFill/>
        </p:spPr>
        <p:txBody>
          <a:bodyPr wrap="square" lIns="0" rIns="0" tIns="0" bIns="0" anchor="t">
            <a:spAutoFit/>
          </a:bodyPr>
          <a:lstStyle/>
          <a:p>
            <a:pPr algn="l">
              <a:spcAft>
                <a:spcPts val="600"/>
              </a:spcAft>
            </a:pPr>
            <a:r>
              <a:rPr sz="1500" b="0" i="0">
                <a:solidFill>
                  <a:srgbClr val="5B6670"/>
                </a:solidFill>
                <a:latin typeface="Calibri"/>
              </a:rPr>
              <a:t>PPO vs glouton, 2 robots</a:t>
            </a:r>
          </a:p>
        </p:txBody>
      </p:sp>
      <p:sp>
        <p:nvSpPr>
          <p:cNvPr id="7" name="TextBox 6"/>
          <p:cNvSpPr txBox="1"/>
          <p:nvPr/>
        </p:nvSpPr>
        <p:spPr>
          <a:xfrm>
            <a:off x="8503920" y="3154680"/>
            <a:ext cx="3108960" cy="731520"/>
          </a:xfrm>
          <a:prstGeom prst="rect">
            <a:avLst/>
          </a:prstGeom>
          <a:noFill/>
        </p:spPr>
        <p:txBody>
          <a:bodyPr wrap="square" lIns="0" rIns="0" tIns="0" bIns="0" anchor="t">
            <a:spAutoFit/>
          </a:bodyPr>
          <a:lstStyle/>
          <a:p>
            <a:pPr algn="l">
              <a:spcAft>
                <a:spcPts val="600"/>
              </a:spcAft>
            </a:pPr>
            <a:r>
              <a:rPr sz="4000" b="1" i="0">
                <a:solidFill>
                  <a:srgbClr val="1BAF7A"/>
                </a:solidFill>
                <a:latin typeface="Calibri"/>
              </a:rPr>
              <a:t>+74 %</a:t>
            </a:r>
          </a:p>
        </p:txBody>
      </p:sp>
      <p:sp>
        <p:nvSpPr>
          <p:cNvPr id="8" name="TextBox 7"/>
          <p:cNvSpPr txBox="1"/>
          <p:nvPr/>
        </p:nvSpPr>
        <p:spPr>
          <a:xfrm>
            <a:off x="8503920" y="3886200"/>
            <a:ext cx="3108960" cy="457200"/>
          </a:xfrm>
          <a:prstGeom prst="rect">
            <a:avLst/>
          </a:prstGeom>
          <a:noFill/>
        </p:spPr>
        <p:txBody>
          <a:bodyPr wrap="square" lIns="0" rIns="0" tIns="0" bIns="0" anchor="t">
            <a:spAutoFit/>
          </a:bodyPr>
          <a:lstStyle/>
          <a:p>
            <a:pPr algn="l">
              <a:spcAft>
                <a:spcPts val="600"/>
              </a:spcAft>
            </a:pPr>
            <a:r>
              <a:rPr sz="1500" b="0" i="0">
                <a:solidFill>
                  <a:srgbClr val="5B6670"/>
                </a:solidFill>
                <a:latin typeface="Calibri"/>
              </a:rPr>
              <a:t>PPO vs glouton, 4 robots</a:t>
            </a:r>
          </a:p>
        </p:txBody>
      </p:sp>
      <p:sp>
        <p:nvSpPr>
          <p:cNvPr id="9" name="TextBox 8"/>
          <p:cNvSpPr txBox="1"/>
          <p:nvPr/>
        </p:nvSpPr>
        <p:spPr>
          <a:xfrm>
            <a:off x="8503920" y="4572000"/>
            <a:ext cx="3108960" cy="731520"/>
          </a:xfrm>
          <a:prstGeom prst="rect">
            <a:avLst/>
          </a:prstGeom>
          <a:noFill/>
        </p:spPr>
        <p:txBody>
          <a:bodyPr wrap="square" lIns="0" rIns="0" tIns="0" bIns="0" anchor="t">
            <a:spAutoFit/>
          </a:bodyPr>
          <a:lstStyle/>
          <a:p>
            <a:pPr algn="l">
              <a:spcAft>
                <a:spcPts val="600"/>
              </a:spcAft>
            </a:pPr>
            <a:r>
              <a:rPr sz="4000" b="1" i="0">
                <a:solidFill>
                  <a:srgbClr val="F2A900"/>
                </a:solidFill>
                <a:latin typeface="Calibri"/>
              </a:rPr>
              <a:t>0</a:t>
            </a:r>
          </a:p>
        </p:txBody>
      </p:sp>
      <p:sp>
        <p:nvSpPr>
          <p:cNvPr id="10" name="TextBox 9"/>
          <p:cNvSpPr txBox="1"/>
          <p:nvPr/>
        </p:nvSpPr>
        <p:spPr>
          <a:xfrm>
            <a:off x="8503920" y="5303520"/>
            <a:ext cx="3108960" cy="457200"/>
          </a:xfrm>
          <a:prstGeom prst="rect">
            <a:avLst/>
          </a:prstGeom>
          <a:noFill/>
        </p:spPr>
        <p:txBody>
          <a:bodyPr wrap="square" lIns="0" rIns="0" tIns="0" bIns="0" anchor="t">
            <a:spAutoFit/>
          </a:bodyPr>
          <a:lstStyle/>
          <a:p>
            <a:pPr algn="l">
              <a:spcAft>
                <a:spcPts val="600"/>
              </a:spcAft>
            </a:pPr>
            <a:r>
              <a:rPr sz="1500" b="0" i="0">
                <a:solidFill>
                  <a:srgbClr val="5B6670"/>
                </a:solidFill>
                <a:latin typeface="Calibri"/>
              </a:rPr>
              <a:t>livraison Q-table dès 3 robots</a:t>
            </a:r>
          </a:p>
        </p:txBody>
      </p:sp>
      <p:sp>
        <p:nvSpPr>
          <p:cNvPr id="11" name="TextBox 10"/>
          <p:cNvSpPr txBox="1"/>
          <p:nvPr/>
        </p:nvSpPr>
        <p:spPr>
          <a:xfrm>
            <a:off x="10728655" y="6446520"/>
            <a:ext cx="914400" cy="274320"/>
          </a:xfrm>
          <a:prstGeom prst="rect">
            <a:avLst/>
          </a:prstGeom>
          <a:noFill/>
        </p:spPr>
        <p:txBody>
          <a:bodyPr wrap="square" lIns="0" rIns="0" tIns="0" bIns="0" anchor="t">
            <a:spAutoFit/>
          </a:bodyPr>
          <a:lstStyle/>
          <a:p>
            <a:pPr algn="r">
              <a:spcAft>
                <a:spcPts val="600"/>
              </a:spcAft>
            </a:pPr>
            <a:r>
              <a:rPr sz="1100" b="0" i="0">
                <a:solidFill>
                  <a:srgbClr val="5B667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spcAft>
                <a:spcPts val="600"/>
              </a:spcAft>
            </a:pPr>
            <a:r>
              <a:rPr sz="1200" b="1" i="0">
                <a:solidFill>
                  <a:srgbClr val="5B6670"/>
                </a:solidFill>
                <a:latin typeface="Calibri"/>
              </a:rPr>
              <a:t>RÉSULTATS</a:t>
            </a:r>
          </a:p>
        </p:txBody>
      </p:sp>
      <p:sp>
        <p:nvSpPr>
          <p:cNvPr id="3" name="Titre"/>
          <p:cNvSpPr txBox="1"/>
          <p:nvPr/>
        </p:nvSpPr>
        <p:spPr>
          <a:xfrm>
            <a:off x="548640" y="640080"/>
            <a:ext cx="11094415" cy="731520"/>
          </a:xfrm>
          <a:prstGeom prst="rect">
            <a:avLst/>
          </a:prstGeom>
          <a:noFill/>
        </p:spPr>
        <p:txBody>
          <a:bodyPr wrap="square" lIns="0" rIns="0" tIns="0" bIns="0" anchor="t">
            <a:spAutoFit/>
          </a:bodyPr>
          <a:lstStyle/>
          <a:p>
            <a:pPr algn="l">
              <a:spcAft>
                <a:spcPts val="600"/>
              </a:spcAft>
            </a:pPr>
            <a:r>
              <a:rPr sz="3000" b="1" i="0">
                <a:solidFill>
                  <a:srgbClr val="1D2731"/>
                </a:solidFill>
                <a:latin typeface="Calibri"/>
              </a:rPr>
              <a:t>PPO atteint son plateau en moins d'un million de pas</a:t>
            </a:r>
          </a:p>
        </p:txBody>
      </p:sp>
      <p:pic>
        <p:nvPicPr>
          <p:cNvPr id="4" name="Picture 3" descr="ppo_curves.png"/>
          <p:cNvPicPr>
            <a:picLocks noChangeAspect="1"/>
          </p:cNvPicPr>
          <p:nvPr/>
        </p:nvPicPr>
        <p:blipFill>
          <a:blip r:embed="rId3"/>
          <a:stretch>
            <a:fillRect/>
          </a:stretch>
        </p:blipFill>
        <p:spPr>
          <a:xfrm>
            <a:off x="548640" y="1554480"/>
            <a:ext cx="7955279" cy="3646170"/>
          </a:xfrm>
          <a:prstGeom prst="rect">
            <a:avLst/>
          </a:prstGeom>
        </p:spPr>
      </p:pic>
      <p:sp>
        <p:nvSpPr>
          <p:cNvPr id="5" name="TextBox 4"/>
          <p:cNvSpPr txBox="1"/>
          <p:nvPr/>
        </p:nvSpPr>
        <p:spPr>
          <a:xfrm>
            <a:off x="8778240" y="1828800"/>
            <a:ext cx="2880360" cy="4023360"/>
          </a:xfrm>
          <a:prstGeom prst="rect">
            <a:avLst/>
          </a:prstGeom>
          <a:noFill/>
        </p:spPr>
        <p:txBody>
          <a:bodyPr wrap="square" lIns="0" rIns="0" tIns="0" bIns="0" anchor="t">
            <a:spAutoFit/>
          </a:bodyPr>
          <a:lstStyle/>
          <a:p>
            <a:pPr algn="l">
              <a:spcAft>
                <a:spcPts val="800"/>
              </a:spcAft>
            </a:pPr>
            <a:r>
              <a:rPr sz="1600" b="0" i="0">
                <a:solidFill>
                  <a:srgbClr val="1D2731"/>
                </a:solidFill>
                <a:latin typeface="Calibri"/>
              </a:rPr>
              <a:t/>
            </a:r>
            <a:r>
              <a:rPr sz="1600">
                <a:solidFill>
                  <a:srgbClr val="F2A900"/>
                </a:solidFill>
                <a:latin typeface="Calibri"/>
              </a:rPr>
              <a:t>▪  </a:t>
            </a:r>
            <a:r>
              <a:rPr sz="1600" b="0">
                <a:solidFill>
                  <a:srgbClr val="1D2731"/>
                </a:solidFill>
                <a:latin typeface="Calibri"/>
              </a:rPr>
              <a:t>Entrées indépendantes de la carte et de n : généralise aux états jamais vus</a:t>
            </a:r>
          </a:p>
          <a:p>
            <a:pPr>
              <a:spcAft>
                <a:spcPts val="800"/>
              </a:spcAft>
            </a:pPr>
            <a:r>
              <a:rPr sz="1600">
                <a:solidFill>
                  <a:srgbClr val="F2A900"/>
                </a:solidFill>
                <a:latin typeface="Calibri"/>
              </a:rPr>
              <a:t>▪  </a:t>
            </a:r>
            <a:r>
              <a:rPr sz="1600" b="0">
                <a:solidFill>
                  <a:srgbClr val="1D2731"/>
                </a:solidFill>
                <a:latin typeface="Calibri"/>
              </a:rPr>
              <a:t>60 min par taille, ≈ 1 400 pas/s sur CPU</a:t>
            </a:r>
          </a:p>
          <a:p>
            <a:pPr>
              <a:spcAft>
                <a:spcPts val="800"/>
              </a:spcAft>
            </a:pPr>
            <a:r>
              <a:rPr sz="1600">
                <a:solidFill>
                  <a:srgbClr val="F2A900"/>
                </a:solidFill>
                <a:latin typeface="Calibri"/>
              </a:rPr>
              <a:t>▪  </a:t>
            </a:r>
            <a:r>
              <a:rPr sz="1600" b="0">
                <a:solidFill>
                  <a:srgbClr val="1D2731"/>
                </a:solidFill>
                <a:latin typeface="Calibri"/>
              </a:rPr>
              <a:t>Pointillés : glouton avec la même flotte</a:t>
            </a:r>
          </a:p>
        </p:txBody>
      </p:sp>
      <p:sp>
        <p:nvSpPr>
          <p:cNvPr id="6" name="TextBox 5"/>
          <p:cNvSpPr txBox="1"/>
          <p:nvPr/>
        </p:nvSpPr>
        <p:spPr>
          <a:xfrm>
            <a:off x="10728655" y="6446520"/>
            <a:ext cx="914400" cy="274320"/>
          </a:xfrm>
          <a:prstGeom prst="rect">
            <a:avLst/>
          </a:prstGeom>
          <a:noFill/>
        </p:spPr>
        <p:txBody>
          <a:bodyPr wrap="square" lIns="0" rIns="0" tIns="0" bIns="0" anchor="t">
            <a:spAutoFit/>
          </a:bodyPr>
          <a:lstStyle/>
          <a:p>
            <a:pPr algn="r">
              <a:spcAft>
                <a:spcPts val="600"/>
              </a:spcAft>
            </a:pPr>
            <a:r>
              <a:rPr sz="1100" b="0" i="0">
                <a:solidFill>
                  <a:srgbClr val="5B667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spcAft>
                <a:spcPts val="600"/>
              </a:spcAft>
            </a:pPr>
            <a:r>
              <a:rPr sz="1200" b="1" i="0">
                <a:solidFill>
                  <a:srgbClr val="5B6670"/>
                </a:solidFill>
                <a:latin typeface="Calibri"/>
              </a:rPr>
              <a:t>RÉSULTATS · SCÉNARIO BIG</a:t>
            </a:r>
          </a:p>
        </p:txBody>
      </p:sp>
      <p:sp>
        <p:nvSpPr>
          <p:cNvPr id="3" name="Titre"/>
          <p:cNvSpPr txBox="1"/>
          <p:nvPr/>
        </p:nvSpPr>
        <p:spPr>
          <a:xfrm>
            <a:off x="548640" y="640080"/>
            <a:ext cx="11094415" cy="731520"/>
          </a:xfrm>
          <a:prstGeom prst="rect">
            <a:avLst/>
          </a:prstGeom>
          <a:noFill/>
        </p:spPr>
        <p:txBody>
          <a:bodyPr wrap="square" lIns="0" rIns="0" tIns="0" bIns="0" anchor="t">
            <a:spAutoFit/>
          </a:bodyPr>
          <a:lstStyle/>
          <a:p>
            <a:pPr algn="l">
              <a:spcAft>
                <a:spcPts val="600"/>
              </a:spcAft>
            </a:pPr>
            <a:r>
              <a:rPr sz="3000" b="1" i="0">
                <a:solidFill>
                  <a:srgbClr val="1D2731"/>
                </a:solidFill>
                <a:latin typeface="Calibri"/>
              </a:rPr>
              <a:t>Sur le scénario le plus dur, PPO livre 73 % de plus</a:t>
            </a:r>
          </a:p>
        </p:txBody>
      </p:sp>
      <p:graphicFrame>
        <p:nvGraphicFramePr>
          <p:cNvPr id="4" name="Table 3"/>
          <p:cNvGraphicFramePr>
            <a:graphicFrameLocks noGrp="1"/>
          </p:cNvGraphicFramePr>
          <p:nvPr/>
        </p:nvGraphicFramePr>
        <p:xfrm>
          <a:off x="548640" y="1783080"/>
          <a:ext cx="6949440" cy="1645920"/>
        </p:xfrm>
        <a:graphic>
          <a:graphicData uri="http://schemas.openxmlformats.org/drawingml/2006/table">
            <a:tbl>
              <a:tblPr firstRow="1" bandRow="1">
                <a:tableStyleId>{5C22544A-7EE6-4342-B048-85BDC9FD1C3A}</a:tableStyleId>
              </a:tblPr>
              <a:tblGrid>
                <a:gridCol w="2011680"/>
                <a:gridCol w="1645920"/>
                <a:gridCol w="1645920"/>
                <a:gridCol w="1645920"/>
              </a:tblGrid>
              <a:tr h="548640">
                <a:tc>
                  <a:txBody>
                    <a:bodyPr/>
                    <a:lstStyle/>
                    <a:p>
                      <a:pPr algn="l"/>
                      <a:r>
                        <a:rPr sz="1500" b="1">
                          <a:solidFill>
                            <a:srgbClr val="FFFFFF"/>
                          </a:solidFill>
                          <a:latin typeface="Calibri"/>
                        </a:rPr>
                        <a:t/>
                      </a:r>
                    </a:p>
                  </a:txBody>
                  <a:tcPr>
                    <a:solidFill>
                      <a:srgbClr val="1D2731"/>
                    </a:solidFill>
                  </a:tcPr>
                </a:tc>
                <a:tc>
                  <a:txBody>
                    <a:bodyPr/>
                    <a:lstStyle/>
                    <a:p>
                      <a:pPr algn="r"/>
                      <a:r>
                        <a:rPr sz="1500" b="1">
                          <a:solidFill>
                            <a:srgbClr val="FFFFFF"/>
                          </a:solidFill>
                          <a:latin typeface="Calibri"/>
                        </a:rPr>
                        <a:t>Livraisons</a:t>
                      </a:r>
                    </a:p>
                  </a:txBody>
                  <a:tcPr>
                    <a:solidFill>
                      <a:srgbClr val="1D2731"/>
                    </a:solidFill>
                  </a:tcPr>
                </a:tc>
                <a:tc>
                  <a:txBody>
                    <a:bodyPr/>
                    <a:lstStyle/>
                    <a:p>
                      <a:pPr algn="r"/>
                      <a:r>
                        <a:rPr sz="1500" b="1">
                          <a:solidFill>
                            <a:srgbClr val="FFFFFF"/>
                          </a:solidFill>
                          <a:latin typeface="Calibri"/>
                        </a:rPr>
                        <a:t>Job ratio</a:t>
                      </a:r>
                    </a:p>
                  </a:txBody>
                  <a:tcPr>
                    <a:solidFill>
                      <a:srgbClr val="1D2731"/>
                    </a:solidFill>
                  </a:tcPr>
                </a:tc>
                <a:tc>
                  <a:txBody>
                    <a:bodyPr/>
                    <a:lstStyle/>
                    <a:p>
                      <a:pPr algn="r"/>
                      <a:r>
                        <a:rPr sz="1500" b="1">
                          <a:solidFill>
                            <a:srgbClr val="FFFFFF"/>
                          </a:solidFill>
                          <a:latin typeface="Calibri"/>
                        </a:rPr>
                        <a:t>Retours arrière</a:t>
                      </a:r>
                    </a:p>
                  </a:txBody>
                  <a:tcPr>
                    <a:solidFill>
                      <a:srgbClr val="1D2731"/>
                    </a:solidFill>
                  </a:tcPr>
                </a:tc>
              </a:tr>
              <a:tr h="548640">
                <a:tc>
                  <a:txBody>
                    <a:bodyPr/>
                    <a:lstStyle/>
                    <a:p>
                      <a:pPr algn="l"/>
                      <a:r>
                        <a:rPr sz="1800" b="0">
                          <a:solidFill>
                            <a:srgbClr val="1D2731"/>
                          </a:solidFill>
                          <a:latin typeface="Calibri"/>
                        </a:rPr>
                        <a:t>Glouton</a:t>
                      </a:r>
                    </a:p>
                  </a:txBody>
                  <a:tcPr>
                    <a:solidFill>
                      <a:srgbClr val="EEF1F4"/>
                    </a:solidFill>
                  </a:tcPr>
                </a:tc>
                <a:tc>
                  <a:txBody>
                    <a:bodyPr/>
                    <a:lstStyle/>
                    <a:p>
                      <a:pPr algn="r"/>
                      <a:r>
                        <a:rPr sz="1800" b="0">
                          <a:solidFill>
                            <a:srgbClr val="1D2731"/>
                          </a:solidFill>
                          <a:latin typeface="Calibri"/>
                        </a:rPr>
                        <a:t>10,6</a:t>
                      </a:r>
                    </a:p>
                  </a:txBody>
                  <a:tcPr>
                    <a:solidFill>
                      <a:srgbClr val="EEF1F4"/>
                    </a:solidFill>
                  </a:tcPr>
                </a:tc>
                <a:tc>
                  <a:txBody>
                    <a:bodyPr/>
                    <a:lstStyle/>
                    <a:p>
                      <a:pPr algn="r"/>
                      <a:r>
                        <a:rPr sz="1800" b="0">
                          <a:solidFill>
                            <a:srgbClr val="1D2731"/>
                          </a:solidFill>
                          <a:latin typeface="Calibri"/>
                        </a:rPr>
                        <a:t>2,12</a:t>
                      </a:r>
                    </a:p>
                  </a:txBody>
                  <a:tcPr>
                    <a:solidFill>
                      <a:srgbClr val="EEF1F4"/>
                    </a:solidFill>
                  </a:tcPr>
                </a:tc>
                <a:tc>
                  <a:txBody>
                    <a:bodyPr/>
                    <a:lstStyle/>
                    <a:p>
                      <a:pPr algn="r"/>
                      <a:r>
                        <a:rPr sz="1800" b="0">
                          <a:solidFill>
                            <a:srgbClr val="1D2731"/>
                          </a:solidFill>
                          <a:latin typeface="Calibri"/>
                        </a:rPr>
                        <a:t>0,340</a:t>
                      </a:r>
                    </a:p>
                  </a:txBody>
                  <a:tcPr>
                    <a:solidFill>
                      <a:srgbClr val="EEF1F4"/>
                    </a:solidFill>
                  </a:tcPr>
                </a:tc>
              </a:tr>
              <a:tr h="548640">
                <a:tc>
                  <a:txBody>
                    <a:bodyPr/>
                    <a:lstStyle/>
                    <a:p>
                      <a:pPr algn="l"/>
                      <a:r>
                        <a:rPr sz="1800" b="0">
                          <a:solidFill>
                            <a:srgbClr val="1D2731"/>
                          </a:solidFill>
                          <a:latin typeface="Calibri"/>
                        </a:rPr>
                        <a:t>PPO (12 h)</a:t>
                      </a:r>
                    </a:p>
                  </a:txBody>
                  <a:tcPr>
                    <a:solidFill>
                      <a:srgbClr val="FFFFFF"/>
                    </a:solidFill>
                  </a:tcPr>
                </a:tc>
                <a:tc>
                  <a:txBody>
                    <a:bodyPr/>
                    <a:lstStyle/>
                    <a:p>
                      <a:pPr algn="r"/>
                      <a:r>
                        <a:rPr sz="1800" b="1">
                          <a:solidFill>
                            <a:srgbClr val="1BAF7A"/>
                          </a:solidFill>
                          <a:latin typeface="Calibri"/>
                        </a:rPr>
                        <a:t>18,3</a:t>
                      </a:r>
                    </a:p>
                  </a:txBody>
                  <a:tcPr>
                    <a:solidFill>
                      <a:srgbClr val="FFFFFF"/>
                    </a:solidFill>
                  </a:tcPr>
                </a:tc>
                <a:tc>
                  <a:txBody>
                    <a:bodyPr/>
                    <a:lstStyle/>
                    <a:p>
                      <a:pPr algn="r"/>
                      <a:r>
                        <a:rPr sz="1800" b="1">
                          <a:solidFill>
                            <a:srgbClr val="1BAF7A"/>
                          </a:solidFill>
                          <a:latin typeface="Calibri"/>
                        </a:rPr>
                        <a:t>1,50</a:t>
                      </a:r>
                    </a:p>
                  </a:txBody>
                  <a:tcPr>
                    <a:solidFill>
                      <a:srgbClr val="FFFFFF"/>
                    </a:solidFill>
                  </a:tcPr>
                </a:tc>
                <a:tc>
                  <a:txBody>
                    <a:bodyPr/>
                    <a:lstStyle/>
                    <a:p>
                      <a:pPr algn="r"/>
                      <a:r>
                        <a:rPr sz="1800" b="1">
                          <a:solidFill>
                            <a:srgbClr val="1BAF7A"/>
                          </a:solidFill>
                          <a:latin typeface="Calibri"/>
                        </a:rPr>
                        <a:t>0,081</a:t>
                      </a:r>
                    </a:p>
                  </a:txBody>
                  <a:tcPr>
                    <a:solidFill>
                      <a:srgbClr val="FFFFFF"/>
                    </a:solidFill>
                  </a:tcPr>
                </a:tc>
              </a:tr>
            </a:tbl>
          </a:graphicData>
        </a:graphic>
      </p:graphicFrame>
      <p:sp>
        <p:nvSpPr>
          <p:cNvPr id="5" name="TextBox 4"/>
          <p:cNvSpPr txBox="1"/>
          <p:nvPr/>
        </p:nvSpPr>
        <p:spPr>
          <a:xfrm>
            <a:off x="548640" y="3931920"/>
            <a:ext cx="6949440" cy="2194560"/>
          </a:xfrm>
          <a:prstGeom prst="rect">
            <a:avLst/>
          </a:prstGeom>
          <a:noFill/>
        </p:spPr>
        <p:txBody>
          <a:bodyPr wrap="square" lIns="0" rIns="0" tIns="0" bIns="0" anchor="t">
            <a:spAutoFit/>
          </a:bodyPr>
          <a:lstStyle/>
          <a:p>
            <a:pPr algn="l">
              <a:spcAft>
                <a:spcPts val="800"/>
              </a:spcAft>
            </a:pPr>
            <a:r>
              <a:rPr sz="1600" b="0" i="0">
                <a:solidFill>
                  <a:srgbClr val="1D2731"/>
                </a:solidFill>
                <a:latin typeface="Calibri"/>
              </a:rPr>
              <a:t/>
            </a:r>
            <a:r>
              <a:rPr sz="1600">
                <a:solidFill>
                  <a:srgbClr val="F2A900"/>
                </a:solidFill>
                <a:latin typeface="Calibri"/>
              </a:rPr>
              <a:t>▪  </a:t>
            </a:r>
            <a:r>
              <a:rPr sz="1600" b="1">
                <a:solidFill>
                  <a:srgbClr val="1D2731"/>
                </a:solidFill>
                <a:latin typeface="Calibri"/>
              </a:rPr>
              <a:t>Le glouton oscille : </a:t>
            </a:r>
            <a:r>
              <a:rPr sz="1600" b="0">
                <a:solidFill>
                  <a:srgbClr val="1D2731"/>
                </a:solidFill>
                <a:latin typeface="Calibri"/>
              </a:rPr>
              <a:t>un tiers de ses pas reviennent sur la case quittée</a:t>
            </a:r>
          </a:p>
          <a:p>
            <a:pPr>
              <a:spcAft>
                <a:spcPts val="800"/>
              </a:spcAft>
            </a:pPr>
            <a:r>
              <a:rPr sz="1600">
                <a:solidFill>
                  <a:srgbClr val="F2A900"/>
                </a:solidFill>
                <a:latin typeface="Calibri"/>
              </a:rPr>
              <a:t>▪  </a:t>
            </a:r>
            <a:r>
              <a:rPr sz="1600" b="1">
                <a:solidFill>
                  <a:srgbClr val="1D2731"/>
                </a:solidFill>
                <a:latin typeface="Calibri"/>
              </a:rPr>
              <a:t>PPO attend en tournant : </a:t>
            </a:r>
            <a:r>
              <a:rPr sz="1600" b="0">
                <a:solidFill>
                  <a:srgbClr val="1D2731"/>
                </a:solidFill>
                <a:latin typeface="Calibri"/>
              </a:rPr>
              <a:t>98,5 % de ses demi-tours sont près d'un autre agent</a:t>
            </a:r>
          </a:p>
          <a:p>
            <a:pPr>
              <a:spcAft>
                <a:spcPts val="800"/>
              </a:spcAft>
            </a:pPr>
            <a:r>
              <a:rPr sz="1600">
                <a:solidFill>
                  <a:srgbClr val="F2A900"/>
                </a:solidFill>
                <a:latin typeface="Calibri"/>
              </a:rPr>
              <a:t>▪  </a:t>
            </a:r>
            <a:r>
              <a:rPr sz="1600" b="1">
                <a:solidFill>
                  <a:srgbClr val="1D2731"/>
                </a:solidFill>
                <a:latin typeface="Calibri"/>
              </a:rPr>
              <a:t>Une action WAIT </a:t>
            </a:r>
            <a:r>
              <a:rPr sz="1600" b="0">
                <a:solidFill>
                  <a:srgbClr val="1D2731"/>
                </a:solidFill>
                <a:latin typeface="Calibri"/>
              </a:rPr>
              <a:t>accélère l'apprentissage mais crée des interblocages en évaluation</a:t>
            </a:r>
          </a:p>
        </p:txBody>
      </p:sp>
      <p:sp>
        <p:nvSpPr>
          <p:cNvPr id="6" name="Rounded Rectangle 5"/>
          <p:cNvSpPr/>
          <p:nvPr/>
        </p:nvSpPr>
        <p:spPr>
          <a:xfrm>
            <a:off x="8001000" y="1783080"/>
            <a:ext cx="3657600" cy="4206240"/>
          </a:xfrm>
          <a:prstGeom prst="roundRect">
            <a:avLst>
              <a:gd name="adj" fmla="val 6000"/>
            </a:avLst>
          </a:prstGeom>
          <a:solidFill>
            <a:srgbClr val="1D27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0" y="2103120"/>
            <a:ext cx="3017520" cy="914400"/>
          </a:xfrm>
          <a:prstGeom prst="rect">
            <a:avLst/>
          </a:prstGeom>
          <a:noFill/>
        </p:spPr>
        <p:txBody>
          <a:bodyPr wrap="square" lIns="0" rIns="0" tIns="0" bIns="0" anchor="t">
            <a:spAutoFit/>
          </a:bodyPr>
          <a:lstStyle/>
          <a:p>
            <a:pPr algn="l">
              <a:spcAft>
                <a:spcPts val="600"/>
              </a:spcAft>
            </a:pPr>
            <a:r>
              <a:rPr sz="6000" b="1" i="0">
                <a:solidFill>
                  <a:srgbClr val="1BAF7A"/>
                </a:solidFill>
                <a:latin typeface="Calibri"/>
              </a:rPr>
              <a:t>18,3</a:t>
            </a:r>
          </a:p>
        </p:txBody>
      </p:sp>
      <p:sp>
        <p:nvSpPr>
          <p:cNvPr id="8" name="TextBox 7"/>
          <p:cNvSpPr txBox="1"/>
          <p:nvPr/>
        </p:nvSpPr>
        <p:spPr>
          <a:xfrm>
            <a:off x="8321040" y="3154680"/>
            <a:ext cx="3017520" cy="548640"/>
          </a:xfrm>
          <a:prstGeom prst="rect">
            <a:avLst/>
          </a:prstGeom>
          <a:noFill/>
        </p:spPr>
        <p:txBody>
          <a:bodyPr wrap="square" lIns="0" rIns="0" tIns="0" bIns="0" anchor="t">
            <a:spAutoFit/>
          </a:bodyPr>
          <a:lstStyle/>
          <a:p>
            <a:pPr algn="l">
              <a:spcAft>
                <a:spcPts val="600"/>
              </a:spcAft>
            </a:pPr>
            <a:r>
              <a:rPr sz="1600" b="0" i="0">
                <a:solidFill>
                  <a:srgbClr val="FFFFFF"/>
                </a:solidFill>
                <a:latin typeface="Calibri"/>
              </a:rPr>
              <a:t>livraisons par épisode</a:t>
            </a:r>
          </a:p>
        </p:txBody>
      </p:sp>
      <p:sp>
        <p:nvSpPr>
          <p:cNvPr id="9" name="TextBox 8"/>
          <p:cNvSpPr txBox="1"/>
          <p:nvPr/>
        </p:nvSpPr>
        <p:spPr>
          <a:xfrm>
            <a:off x="8321040" y="3931920"/>
            <a:ext cx="3017520" cy="914400"/>
          </a:xfrm>
          <a:prstGeom prst="rect">
            <a:avLst/>
          </a:prstGeom>
          <a:noFill/>
        </p:spPr>
        <p:txBody>
          <a:bodyPr wrap="square" lIns="0" rIns="0" tIns="0" bIns="0" anchor="t">
            <a:spAutoFit/>
          </a:bodyPr>
          <a:lstStyle/>
          <a:p>
            <a:pPr algn="l">
              <a:spcAft>
                <a:spcPts val="600"/>
              </a:spcAft>
            </a:pPr>
            <a:r>
              <a:rPr sz="4000" b="1" i="0">
                <a:solidFill>
                  <a:srgbClr val="C9D1D8"/>
                </a:solidFill>
                <a:latin typeface="Calibri"/>
              </a:rPr>
              <a:t>10,6</a:t>
            </a:r>
          </a:p>
        </p:txBody>
      </p:sp>
      <p:sp>
        <p:nvSpPr>
          <p:cNvPr id="10" name="TextBox 9"/>
          <p:cNvSpPr txBox="1"/>
          <p:nvPr/>
        </p:nvSpPr>
        <p:spPr>
          <a:xfrm>
            <a:off x="8321040" y="4754880"/>
            <a:ext cx="3017520" cy="548640"/>
          </a:xfrm>
          <a:prstGeom prst="rect">
            <a:avLst/>
          </a:prstGeom>
          <a:noFill/>
        </p:spPr>
        <p:txBody>
          <a:bodyPr wrap="square" lIns="0" rIns="0" tIns="0" bIns="0" anchor="t">
            <a:spAutoFit/>
          </a:bodyPr>
          <a:lstStyle/>
          <a:p>
            <a:pPr algn="l">
              <a:spcAft>
                <a:spcPts val="600"/>
              </a:spcAft>
            </a:pPr>
            <a:r>
              <a:rPr sz="1600" b="0" i="0">
                <a:solidFill>
                  <a:srgbClr val="C9D1D8"/>
                </a:solidFill>
                <a:latin typeface="Calibri"/>
              </a:rPr>
              <a:t>pour le glouton</a:t>
            </a:r>
          </a:p>
        </p:txBody>
      </p:sp>
      <p:sp>
        <p:nvSpPr>
          <p:cNvPr id="11" name="TextBox 10"/>
          <p:cNvSpPr txBox="1"/>
          <p:nvPr/>
        </p:nvSpPr>
        <p:spPr>
          <a:xfrm>
            <a:off x="10728655" y="6446520"/>
            <a:ext cx="914400" cy="274320"/>
          </a:xfrm>
          <a:prstGeom prst="rect">
            <a:avLst/>
          </a:prstGeom>
          <a:noFill/>
        </p:spPr>
        <p:txBody>
          <a:bodyPr wrap="square" lIns="0" rIns="0" tIns="0" bIns="0" anchor="t">
            <a:spAutoFit/>
          </a:bodyPr>
          <a:lstStyle/>
          <a:p>
            <a:pPr algn="r">
              <a:spcAft>
                <a:spcPts val="600"/>
              </a:spcAft>
            </a:pPr>
            <a:r>
              <a:rPr sz="1100" b="0" i="0">
                <a:solidFill>
                  <a:srgbClr val="5B667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spcAft>
                <a:spcPts val="600"/>
              </a:spcAft>
            </a:pPr>
            <a:r>
              <a:rPr sz="1200" b="1" i="0">
                <a:solidFill>
                  <a:srgbClr val="5B6670"/>
                </a:solidFill>
                <a:latin typeface="Calibri"/>
              </a:rPr>
              <a:t>RÉSULTATS · PLANIFICATEUR, SCÉNARIO BIG</a:t>
            </a:r>
          </a:p>
        </p:txBody>
      </p:sp>
      <p:sp>
        <p:nvSpPr>
          <p:cNvPr id="3" name="Titre"/>
          <p:cNvSpPr txBox="1"/>
          <p:nvPr/>
        </p:nvSpPr>
        <p:spPr>
          <a:xfrm>
            <a:off x="548640" y="640080"/>
            <a:ext cx="11094415" cy="731520"/>
          </a:xfrm>
          <a:prstGeom prst="rect">
            <a:avLst/>
          </a:prstGeom>
          <a:noFill/>
        </p:spPr>
        <p:txBody>
          <a:bodyPr wrap="square" lIns="0" rIns="0" tIns="0" bIns="0" anchor="t">
            <a:spAutoFit/>
          </a:bodyPr>
          <a:lstStyle/>
          <a:p>
            <a:pPr algn="l">
              <a:spcAft>
                <a:spcPts val="600"/>
              </a:spcAft>
            </a:pPr>
            <a:r>
              <a:rPr sz="3000" b="1" i="0">
                <a:solidFill>
                  <a:srgbClr val="1D2731"/>
                </a:solidFill>
                <a:latin typeface="Calibri"/>
              </a:rPr>
              <a:t>Zéro collision ne veut pas dire plus de livraisons</a:t>
            </a:r>
          </a:p>
        </p:txBody>
      </p:sp>
      <p:pic>
        <p:nvPicPr>
          <p:cNvPr id="4" name="Picture 3" descr="ladder.png"/>
          <p:cNvPicPr>
            <a:picLocks noChangeAspect="1"/>
          </p:cNvPicPr>
          <p:nvPr/>
        </p:nvPicPr>
        <p:blipFill>
          <a:blip r:embed="rId3"/>
          <a:stretch>
            <a:fillRect/>
          </a:stretch>
        </p:blipFill>
        <p:spPr>
          <a:xfrm>
            <a:off x="548640" y="1554480"/>
            <a:ext cx="7315200" cy="3421626"/>
          </a:xfrm>
          <a:prstGeom prst="rect">
            <a:avLst/>
          </a:prstGeom>
        </p:spPr>
      </p:pic>
      <p:sp>
        <p:nvSpPr>
          <p:cNvPr id="5" name="TextBox 4"/>
          <p:cNvSpPr txBox="1"/>
          <p:nvPr/>
        </p:nvSpPr>
        <p:spPr>
          <a:xfrm>
            <a:off x="8229600" y="1783080"/>
            <a:ext cx="3429000" cy="4206240"/>
          </a:xfrm>
          <a:prstGeom prst="rect">
            <a:avLst/>
          </a:prstGeom>
          <a:noFill/>
        </p:spPr>
        <p:txBody>
          <a:bodyPr wrap="square" lIns="0" rIns="0" tIns="0" bIns="0" anchor="t">
            <a:spAutoFit/>
          </a:bodyPr>
          <a:lstStyle/>
          <a:p>
            <a:pPr algn="l">
              <a:spcAft>
                <a:spcPts val="800"/>
              </a:spcAft>
            </a:pPr>
            <a:r>
              <a:rPr sz="1600" b="0" i="0">
                <a:solidFill>
                  <a:srgbClr val="1D2731"/>
                </a:solidFill>
                <a:latin typeface="Calibri"/>
              </a:rPr>
              <a:t/>
            </a:r>
            <a:r>
              <a:rPr sz="1600">
                <a:solidFill>
                  <a:srgbClr val="F2A900"/>
                </a:solidFill>
                <a:latin typeface="Calibri"/>
              </a:rPr>
              <a:t>▪  </a:t>
            </a:r>
            <a:r>
              <a:rPr sz="1600" b="1">
                <a:solidFill>
                  <a:srgbClr val="1D2731"/>
                </a:solidFill>
                <a:latin typeface="Calibri"/>
              </a:rPr>
              <a:t>0 blocage, </a:t>
            </a:r>
            <a:r>
              <a:rPr sz="1600" b="0">
                <a:solidFill>
                  <a:srgbClr val="1D2731"/>
                </a:solidFill>
                <a:latin typeface="Calibri"/>
              </a:rPr>
              <a:t>trajets les plus directs, mais 13,1 livraisons contre 18,3</a:t>
            </a:r>
          </a:p>
          <a:p>
            <a:pPr>
              <a:spcAft>
                <a:spcPts val="800"/>
              </a:spcAft>
            </a:pPr>
            <a:r>
              <a:rPr sz="1600">
                <a:solidFill>
                  <a:srgbClr val="F2A900"/>
                </a:solidFill>
                <a:latin typeface="Calibri"/>
              </a:rPr>
              <a:t>▪  </a:t>
            </a:r>
            <a:r>
              <a:rPr sz="1600" b="1">
                <a:solidFill>
                  <a:srgbClr val="1D2731"/>
                </a:solidFill>
                <a:latin typeface="Calibri"/>
              </a:rPr>
              <a:t>Voir les humains, </a:t>
            </a:r>
            <a:r>
              <a:rPr sz="1600" b="0">
                <a:solidFill>
                  <a:srgbClr val="1D2731"/>
                </a:solidFill>
                <a:latin typeface="Calibri"/>
              </a:rPr>
              <a:t>même leur futur : 12,4 à 13,5, dans le bruit</a:t>
            </a:r>
          </a:p>
          <a:p>
            <a:pPr>
              <a:spcAft>
                <a:spcPts val="800"/>
              </a:spcAft>
            </a:pPr>
            <a:r>
              <a:rPr sz="1600">
                <a:solidFill>
                  <a:srgbClr val="F2A900"/>
                </a:solidFill>
                <a:latin typeface="Calibri"/>
              </a:rPr>
              <a:t>▪  </a:t>
            </a:r>
            <a:r>
              <a:rPr sz="1600" b="1">
                <a:solidFill>
                  <a:srgbClr val="1D2731"/>
                </a:solidFill>
                <a:latin typeface="Calibri"/>
              </a:rPr>
              <a:t>PPO a appris </a:t>
            </a:r>
            <a:r>
              <a:rPr sz="1600" b="0">
                <a:solidFill>
                  <a:srgbClr val="1D2731"/>
                </a:solidFill>
                <a:latin typeface="Calibri"/>
              </a:rPr>
              <a:t>à partager les couloirs</a:t>
            </a:r>
          </a:p>
          <a:p>
            <a:pPr>
              <a:spcAft>
                <a:spcPts val="800"/>
              </a:spcAft>
            </a:pPr>
            <a:r>
              <a:rPr sz="1600">
                <a:solidFill>
                  <a:srgbClr val="F2A900"/>
                </a:solidFill>
                <a:latin typeface="Calibri"/>
              </a:rPr>
              <a:t>▪  </a:t>
            </a:r>
            <a:r>
              <a:rPr sz="1600" b="1">
                <a:solidFill>
                  <a:srgbClr val="1D2731"/>
                </a:solidFill>
                <a:latin typeface="Calibri"/>
              </a:rPr>
              <a:t>search : </a:t>
            </a:r>
            <a:r>
              <a:rPr sz="1600" b="0">
                <a:solidFill>
                  <a:srgbClr val="5B6670"/>
                </a:solidFill>
                <a:latin typeface="Calibri"/>
              </a:rPr>
              <a:t>à compléter (Lohann)</a:t>
            </a:r>
          </a:p>
        </p:txBody>
      </p:sp>
      <p:sp>
        <p:nvSpPr>
          <p:cNvPr id="6" name="TextBox 5"/>
          <p:cNvSpPr txBox="1"/>
          <p:nvPr/>
        </p:nvSpPr>
        <p:spPr>
          <a:xfrm>
            <a:off x="10728655" y="6446520"/>
            <a:ext cx="914400" cy="274320"/>
          </a:xfrm>
          <a:prstGeom prst="rect">
            <a:avLst/>
          </a:prstGeom>
          <a:noFill/>
        </p:spPr>
        <p:txBody>
          <a:bodyPr wrap="square" lIns="0" rIns="0" tIns="0" bIns="0" anchor="t">
            <a:spAutoFit/>
          </a:bodyPr>
          <a:lstStyle/>
          <a:p>
            <a:pPr algn="r">
              <a:spcAft>
                <a:spcPts val="600"/>
              </a:spcAft>
            </a:pPr>
            <a:r>
              <a:rPr sz="1100" b="0" i="0">
                <a:solidFill>
                  <a:srgbClr val="5B667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D2731"/>
        </a:solidFill>
        <a:effectLst/>
      </p:bgPr>
    </p:bg>
    <p:spTree>
      <p:nvGrpSpPr>
        <p:cNvPr id="1" name=""/>
        <p:cNvGrpSpPr/>
        <p:nvPr/>
      </p:nvGrpSpPr>
      <p:grpSpPr/>
      <p:sp>
        <p:nvSpPr>
          <p:cNvPr id="2" name="TextBox 1"/>
          <p:cNvSpPr txBox="1"/>
          <p:nvPr/>
        </p:nvSpPr>
        <p:spPr>
          <a:xfrm>
            <a:off x="548640" y="822960"/>
            <a:ext cx="11094415" cy="822960"/>
          </a:xfrm>
          <a:prstGeom prst="rect">
            <a:avLst/>
          </a:prstGeom>
          <a:noFill/>
        </p:spPr>
        <p:txBody>
          <a:bodyPr wrap="square" lIns="0" rIns="0" tIns="0" bIns="0" anchor="t">
            <a:spAutoFit/>
          </a:bodyPr>
          <a:lstStyle/>
          <a:p>
            <a:pPr algn="l">
              <a:spcAft>
                <a:spcPts val="600"/>
              </a:spcAft>
            </a:pPr>
            <a:r>
              <a:rPr sz="3600" b="1" i="0">
                <a:solidFill>
                  <a:srgbClr val="FFFFFF"/>
                </a:solidFill>
                <a:latin typeface="Calibri"/>
              </a:rPr>
              <a:t>Ce qu'on retient</a:t>
            </a:r>
          </a:p>
        </p:txBody>
      </p:sp>
      <p:sp>
        <p:nvSpPr>
          <p:cNvPr id="3" name="Oval 2"/>
          <p:cNvSpPr/>
          <p:nvPr/>
        </p:nvSpPr>
        <p:spPr>
          <a:xfrm>
            <a:off x="548640" y="201168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D2731"/>
                </a:solidFill>
                <a:latin typeface="Calibri"/>
              </a:rPr>
              <a:t>1</a:t>
            </a:r>
          </a:p>
        </p:txBody>
      </p:sp>
      <p:sp>
        <p:nvSpPr>
          <p:cNvPr id="4" name="TextBox 3"/>
          <p:cNvSpPr txBox="1"/>
          <p:nvPr/>
        </p:nvSpPr>
        <p:spPr>
          <a:xfrm>
            <a:off x="1280160" y="1984248"/>
            <a:ext cx="10241280" cy="457200"/>
          </a:xfrm>
          <a:prstGeom prst="rect">
            <a:avLst/>
          </a:prstGeom>
          <a:noFill/>
        </p:spPr>
        <p:txBody>
          <a:bodyPr wrap="square" lIns="0" rIns="0" tIns="0" bIns="0" anchor="t">
            <a:spAutoFit/>
          </a:bodyPr>
          <a:lstStyle/>
          <a:p>
            <a:pPr algn="l">
              <a:spcAft>
                <a:spcPts val="600"/>
              </a:spcAft>
            </a:pPr>
            <a:r>
              <a:rPr sz="2200" b="1" i="0">
                <a:solidFill>
                  <a:srgbClr val="FFFFFF"/>
                </a:solidFill>
                <a:latin typeface="Calibri"/>
              </a:rPr>
              <a:t>Le tabulaire centralisé ne passe pas à l'échelle</a:t>
            </a:r>
          </a:p>
        </p:txBody>
      </p:sp>
      <p:sp>
        <p:nvSpPr>
          <p:cNvPr id="5" name="TextBox 4"/>
          <p:cNvSpPr txBox="1"/>
          <p:nvPr/>
        </p:nvSpPr>
        <p:spPr>
          <a:xfrm>
            <a:off x="1280160" y="2468880"/>
            <a:ext cx="10241280" cy="548640"/>
          </a:xfrm>
          <a:prstGeom prst="rect">
            <a:avLst/>
          </a:prstGeom>
          <a:noFill/>
        </p:spPr>
        <p:txBody>
          <a:bodyPr wrap="square" lIns="0" rIns="0" tIns="0" bIns="0" anchor="t">
            <a:spAutoFit/>
          </a:bodyPr>
          <a:lstStyle/>
          <a:p>
            <a:pPr algn="l">
              <a:spcAft>
                <a:spcPts val="600"/>
              </a:spcAft>
            </a:pPr>
            <a:r>
              <a:rPr sz="1600" b="0" i="0">
                <a:solidFill>
                  <a:srgbClr val="C9D1D8"/>
                </a:solidFill>
                <a:latin typeface="Calibri"/>
              </a:rPr>
              <a:t>la mémoire sature avant l'apprentissage ; aveugle sur 99,5 % des états dès 3 robots</a:t>
            </a:r>
          </a:p>
        </p:txBody>
      </p:sp>
      <p:sp>
        <p:nvSpPr>
          <p:cNvPr id="6" name="Oval 5"/>
          <p:cNvSpPr/>
          <p:nvPr/>
        </p:nvSpPr>
        <p:spPr>
          <a:xfrm>
            <a:off x="548640" y="333756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D2731"/>
                </a:solidFill>
                <a:latin typeface="Calibri"/>
              </a:rPr>
              <a:t>2</a:t>
            </a:r>
          </a:p>
        </p:txBody>
      </p:sp>
      <p:sp>
        <p:nvSpPr>
          <p:cNvPr id="7" name="TextBox 6"/>
          <p:cNvSpPr txBox="1"/>
          <p:nvPr/>
        </p:nvSpPr>
        <p:spPr>
          <a:xfrm>
            <a:off x="1280160" y="3310128"/>
            <a:ext cx="10241280" cy="457200"/>
          </a:xfrm>
          <a:prstGeom prst="rect">
            <a:avLst/>
          </a:prstGeom>
          <a:noFill/>
        </p:spPr>
        <p:txBody>
          <a:bodyPr wrap="square" lIns="0" rIns="0" tIns="0" bIns="0" anchor="t">
            <a:spAutoFit/>
          </a:bodyPr>
          <a:lstStyle/>
          <a:p>
            <a:pPr algn="l">
              <a:spcAft>
                <a:spcPts val="600"/>
              </a:spcAft>
            </a:pPr>
            <a:r>
              <a:rPr sz="2200" b="1" i="0">
                <a:solidFill>
                  <a:srgbClr val="FFFFFF"/>
                </a:solidFill>
                <a:latin typeface="Calibri"/>
              </a:rPr>
              <a:t>PPO généralise</a:t>
            </a:r>
          </a:p>
        </p:txBody>
      </p:sp>
      <p:sp>
        <p:nvSpPr>
          <p:cNvPr id="8" name="TextBox 7"/>
          <p:cNvSpPr txBox="1"/>
          <p:nvPr/>
        </p:nvSpPr>
        <p:spPr>
          <a:xfrm>
            <a:off x="1280160" y="3794760"/>
            <a:ext cx="10241280" cy="548640"/>
          </a:xfrm>
          <a:prstGeom prst="rect">
            <a:avLst/>
          </a:prstGeom>
          <a:noFill/>
        </p:spPr>
        <p:txBody>
          <a:bodyPr wrap="square" lIns="0" rIns="0" tIns="0" bIns="0" anchor="t">
            <a:spAutoFit/>
          </a:bodyPr>
          <a:lstStyle/>
          <a:p>
            <a:pPr algn="l">
              <a:spcAft>
                <a:spcPts val="600"/>
              </a:spcAft>
            </a:pPr>
            <a:r>
              <a:rPr sz="1600" b="0" i="0">
                <a:solidFill>
                  <a:srgbClr val="C9D1D8"/>
                </a:solidFill>
                <a:latin typeface="Calibri"/>
              </a:rPr>
              <a:t>entrées indépendantes de la carte et de la flotte ; +74 % sur le glouton à 4 robots, 18,3 contre 10,6 sur big</a:t>
            </a:r>
          </a:p>
        </p:txBody>
      </p:sp>
      <p:sp>
        <p:nvSpPr>
          <p:cNvPr id="9" name="Oval 8"/>
          <p:cNvSpPr/>
          <p:nvPr/>
        </p:nvSpPr>
        <p:spPr>
          <a:xfrm>
            <a:off x="548640" y="466344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D2731"/>
                </a:solidFill>
                <a:latin typeface="Calibri"/>
              </a:rPr>
              <a:t>3</a:t>
            </a:r>
          </a:p>
        </p:txBody>
      </p:sp>
      <p:sp>
        <p:nvSpPr>
          <p:cNvPr id="10" name="TextBox 9"/>
          <p:cNvSpPr txBox="1"/>
          <p:nvPr/>
        </p:nvSpPr>
        <p:spPr>
          <a:xfrm>
            <a:off x="1280160" y="4636007"/>
            <a:ext cx="10241280" cy="457200"/>
          </a:xfrm>
          <a:prstGeom prst="rect">
            <a:avLst/>
          </a:prstGeom>
          <a:noFill/>
        </p:spPr>
        <p:txBody>
          <a:bodyPr wrap="square" lIns="0" rIns="0" tIns="0" bIns="0" anchor="t">
            <a:spAutoFit/>
          </a:bodyPr>
          <a:lstStyle/>
          <a:p>
            <a:pPr algn="l">
              <a:spcAft>
                <a:spcPts val="600"/>
              </a:spcAft>
            </a:pPr>
            <a:r>
              <a:rPr sz="2200" b="1" i="0">
                <a:solidFill>
                  <a:srgbClr val="FFFFFF"/>
                </a:solidFill>
                <a:latin typeface="Calibri"/>
              </a:rPr>
              <a:t>Les choix mesurés comptent plus que l'algorithme</a:t>
            </a:r>
          </a:p>
        </p:txBody>
      </p:sp>
      <p:sp>
        <p:nvSpPr>
          <p:cNvPr id="11" name="TextBox 10"/>
          <p:cNvSpPr txBox="1"/>
          <p:nvPr/>
        </p:nvSpPr>
        <p:spPr>
          <a:xfrm>
            <a:off x="1280160" y="5120640"/>
            <a:ext cx="10241280" cy="548640"/>
          </a:xfrm>
          <a:prstGeom prst="rect">
            <a:avLst/>
          </a:prstGeom>
          <a:noFill/>
        </p:spPr>
        <p:txBody>
          <a:bodyPr wrap="square" lIns="0" rIns="0" tIns="0" bIns="0" anchor="t">
            <a:spAutoFit/>
          </a:bodyPr>
          <a:lstStyle/>
          <a:p>
            <a:pPr algn="l">
              <a:spcAft>
                <a:spcPts val="600"/>
              </a:spcAft>
            </a:pPr>
            <a:r>
              <a:rPr sz="1600" b="0" i="0">
                <a:solidFill>
                  <a:srgbClr val="C9D1D8"/>
                </a:solidFill>
                <a:latin typeface="Calibri"/>
              </a:rPr>
              <a:t>masquer, donner les distances BFS, façonner sans flânerie, évaluer sur cartes inédites</a:t>
            </a:r>
          </a:p>
        </p:txBody>
      </p:sp>
      <p:sp>
        <p:nvSpPr>
          <p:cNvPr id="12" name="TextBox 11"/>
          <p:cNvSpPr txBox="1"/>
          <p:nvPr/>
        </p:nvSpPr>
        <p:spPr>
          <a:xfrm>
            <a:off x="548640" y="6035040"/>
            <a:ext cx="11094415" cy="365760"/>
          </a:xfrm>
          <a:prstGeom prst="rect">
            <a:avLst/>
          </a:prstGeom>
          <a:noFill/>
        </p:spPr>
        <p:txBody>
          <a:bodyPr wrap="square" lIns="0" rIns="0" tIns="0" bIns="0" anchor="t">
            <a:spAutoFit/>
          </a:bodyPr>
          <a:lstStyle/>
          <a:p>
            <a:pPr algn="l">
              <a:spcAft>
                <a:spcPts val="600"/>
              </a:spcAft>
            </a:pPr>
            <a:r>
              <a:rPr sz="1400" b="0" i="0">
                <a:solidFill>
                  <a:srgbClr val="F2A900"/>
                </a:solidFill>
                <a:latin typeface="Calibri"/>
              </a:rPr>
              <a:t>Pistes : VDN / QMIX, têtes autorégressives, caractéristiques vectorisées</a:t>
            </a:r>
          </a:p>
        </p:txBody>
      </p:sp>
      <p:sp>
        <p:nvSpPr>
          <p:cNvPr id="13" name="TextBox 12"/>
          <p:cNvSpPr txBox="1"/>
          <p:nvPr/>
        </p:nvSpPr>
        <p:spPr>
          <a:xfrm>
            <a:off x="10728655" y="6446520"/>
            <a:ext cx="914400" cy="274320"/>
          </a:xfrm>
          <a:prstGeom prst="rect">
            <a:avLst/>
          </a:prstGeom>
          <a:noFill/>
        </p:spPr>
        <p:txBody>
          <a:bodyPr wrap="square" lIns="0" rIns="0" tIns="0" bIns="0" anchor="t">
            <a:spAutoFit/>
          </a:bodyPr>
          <a:lstStyle/>
          <a:p>
            <a:pPr algn="r">
              <a:spcAft>
                <a:spcPts val="600"/>
              </a:spcAft>
            </a:pPr>
            <a:r>
              <a:rPr sz="1100" b="0" i="0">
                <a:solidFill>
                  <a:srgbClr val="FFFFFF"/>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